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final research defense and scientific audit of the FPDAF framework. This project presents a decentralized, privacy-preserving deep learning system for early sepsis forecasting across multi-center ICU networks. Over the course of Phase II, we conducted an exhaustive scientific audit, eliminating temporal leakage, implementing genuine patient-level cluster bootstrap uncertainty quantification, and evaluating 5 comparable models on the complete 102,994-window multi-center cohort. Our work is packaged for 4 international journals: IEEE JBHI, JMIR Medical Informatics, Elsevier AI in Medicine, and Springer Nature SN Computer Science.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Sepsis is a medical emergency with time-sensitive intervention windows. Traditional clinical scoring systems like SOFA and SIRS are reactive; they detect organ failure after substantial damage has occurred. Deep learning on longitudinal telemetry can detect subtle physiological deterioration hours in advance. However, training such models across multiple hospital networks requires overcoming strict statutory privacy barriers.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identified three fundamental barriers in the literature: First, the Privacy Gap: centralized training is legally dead on arrival. Second, the Accuracy Gap: ICU patient populations are radically heterogeneous; global federated averaging cannot fit local demographics. Third, the Trust Gap: deep learning models frequently suffer from overconfidence and uncalibrated probabilities, triggering alert fatigue where 80-90% of alarms are false positives.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investigation is organized around four precise research questions addressing the privacy, drift, calibration, and communication challenges. Notice that RQ1 specifically asks whether decentralized learning can match centralized performance, and RQ3 prioritizes calibration error rather than raw uncalibrated rank-ordering.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FPDAF-v2 integrates three core algorithmic components. Pillar 1: AD-CUSUM monitors the divergence of predictive distributions and gradient norms to detect real population drift. Pillar 2: DDP-ERP incorporates dual-phase attention across time and vital signs, anchoring local parameters to the global model to prevent catastrophic forgetting. Pillar 3: CSSP selectively suppresses uplink transmissions during drift adaptation, reducing communication traffic while protecting consensus.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mirror genuine real-world clinical heterogeneity, we partitioned the PhysioNet multi-center cohort into three distinct hospital nodes. Client 0 models a community hospital (age &lt; 60). Client 1 represents a high-acuity geriatric ICU (age &gt;= 60). Client 2 represents an external tertiary academic referral center from Emory Healthcare with 50,797 test windows. Every patient is strictly confined to a single client node with zero cross-client overlap.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hygiene was a foundational priority of our audit. We proved that all 40,327 ICU admissions are partitioned at the patient level. More importantly, we eliminated all backward-filling (bfill) from the codebase, ensuring that imputation is strictly causal and operates forward in time without leaking future clinical measurements into past observation windows.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major breakthrough of our scientific audit was identifying that previous tables compared models evaluated on different 15,000-window samples. Personalized models were evaluated on 5,000 windows per client (Panel A, prevalence 2.72%), while global models were evaluated on uniform pooled data (Panel B, prevalence 2.58%). We restructured Table 1 into two distinct panels to ensure fair, within-panel matched comparisons, and explicitly prohibited cross-panel claims.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compared FPDAF-v2 against five established learning paradigms. Centralized BiLSTM provides the upper benchmark, Local-Only provides the lower benchmark, FedAvg represents canonical federated consensus, FedProx regularizes heterogeneous training, and Ditto is the state-of-the-art in personalized federated learning. Every comparison uses identical architectures and hyperparameter budgets.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core verified results on all 102,994 test windows. Notice three vital conclusions: First, FPDAF-v2 achieves an AUROC of 0.7923, which paired bootstrap difference testing confirms is statistically comparable to the Centralized BiLSTM bound (P = 0.176). Second, FPDAF-v2 delivers the highest AUPRC (0.1043). Third, look at calibration: Centralized BiLSTM has an ECE of 0.2935 and Ditto has 0.3150, whereas FPDAF-v2 achieves an ECE of 0.0902 and a Brier score of 0.0548, reflecting superior probability reliability.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critical care, a single default threshold of 0.50 is clinically meaningless. Due to 2.5% sepsis prevalence, clinicians require different operating points depending on the clinical context. In Mode 1, threshold 0.08 delivers 80.15% sensitivity, serving as an early bedside screening tool. In Mode 2, threshold 0.65 achieves 97.8% specificity and 96.2% accuracy, eliminating alert fatigue for high-confidence automated alerts.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empirical logs demonstrate two vital deployment properties: First, clinical actionability: the 4.98-hour early warning window provides sufficient notice for blood cultures and fluid resuscitation before irreversible septic shock. Second, communication efficiency: CSSP selectively suppresses uplink transmission from drifting clients, reducing cumulative bandwidth by up to 38% in simulated 50-round federated training.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bridge the trust gap, FPDAF provides full explainability. Integrated Gradients identifies the physiological drivers of risk, identifying rising lactate and falling blood pressure as top factors. Temporal cross-attention concentrates weights in the final 4-6 hours, and our interactive CDSS prototype includes a counterfactual simulator allowing clinicians to test hypothetical interventions.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believe rigorous science requires transparent disclosures. We explicitly disclose five limitations: First, this is a retrospective study; prospective trials are mandatory. Second, federation was simulated. Third, baseline prevalence is 2.5%, bounding PPV at default thresholds. Fourth, we do not claim formal differential privacy guarantees. Fifth, FPDAF-v2 intentionally traded 1 point of AUROC to achieve substantial calibration improvements over FPDAF-v1.</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FPDAF provides an empirically validated, privacy-preserving, and drift-aware architecture for early sepsis surveillance. By grounding our claims in genuine patient-clustered bootstrap statistics, reconciling full-cohort predictions, and disclosing honest trade-offs, we provide a solid, scientifically verified foundation for decentralized critical care intelligence. Thank you, and we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457200" y="457200"/>
            <a:ext cx="11277295" cy="5943600"/>
          </a:xfrm>
          <a:prstGeom prst="roundRect">
            <a:avLst/>
          </a:prstGeom>
          <a:solidFill>
            <a:srgbClr val="F8FAFC"/>
          </a:solidFill>
          <a:ln w="12700">
            <a:solidFill>
              <a:srgbClr val="A41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822960"/>
            <a:ext cx="10362895" cy="1645920"/>
          </a:xfrm>
          <a:prstGeom prst="rect">
            <a:avLst/>
          </a:prstGeom>
          <a:noFill/>
        </p:spPr>
        <p:txBody>
          <a:bodyPr wrap="square">
            <a:spAutoFit/>
          </a:bodyPr>
          <a:lstStyle/>
          <a:p>
            <a:pPr>
              <a:defRPr sz="2600" b="1">
                <a:solidFill>
                  <a:srgbClr val="A4123F"/>
                </a:solidFill>
              </a:defRPr>
            </a:pPr>
            <a:r>
              <a:t>FPDAF: A Federated Personalized Drift-Aware Attention Framework</a:t>
            </a:r>
          </a:p>
          <a:p>
            <a:pPr>
              <a:spcBef>
                <a:spcPts val="600"/>
              </a:spcBef>
              <a:defRPr sz="1700" b="1">
                <a:solidFill>
                  <a:srgbClr val="0F172A"/>
                </a:solidFill>
              </a:defRPr>
            </a:pPr>
            <a:r>
              <a:t>Privacy-Preserving Early Sepsis Forecasting in Multi-Center Critical Care Telemetry</a:t>
            </a:r>
          </a:p>
          <a:p>
            <a:pPr>
              <a:spcBef>
                <a:spcPts val="400"/>
              </a:spcBef>
              <a:defRPr sz="1200">
                <a:solidFill>
                  <a:srgbClr val="64748B"/>
                </a:solidFill>
              </a:defRPr>
            </a:pPr>
            <a:r>
              <a:t>Final Scientific-Validity Audit, Clustered Bootstrap Verification, and Journal Submission Readiness</a:t>
            </a:r>
          </a:p>
        </p:txBody>
      </p:sp>
      <p:sp>
        <p:nvSpPr>
          <p:cNvPr id="4" name="Rounded Rectangle 3"/>
          <p:cNvSpPr/>
          <p:nvPr/>
        </p:nvSpPr>
        <p:spPr>
          <a:xfrm>
            <a:off x="914400" y="2651760"/>
            <a:ext cx="4937760" cy="3383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2834640"/>
            <a:ext cx="4572000" cy="3017520"/>
          </a:xfrm>
          <a:prstGeom prst="rect">
            <a:avLst/>
          </a:prstGeom>
          <a:noFill/>
        </p:spPr>
        <p:txBody>
          <a:bodyPr wrap="square">
            <a:spAutoFit/>
          </a:bodyPr>
          <a:lstStyle/>
          <a:p>
            <a:pPr>
              <a:defRPr sz="1400" b="1">
                <a:solidFill>
                  <a:srgbClr val="A4123F"/>
                </a:solidFill>
              </a:defRPr>
            </a:pPr>
            <a:r>
              <a:t>Research Team (Team 28 - Project Phase II)</a:t>
            </a:r>
          </a:p>
          <a:p>
            <a:pPr>
              <a:spcBef>
                <a:spcPts val="400"/>
              </a:spcBef>
              <a:defRPr sz="1050">
                <a:solidFill>
                  <a:srgbClr val="1E293B"/>
                </a:solidFill>
              </a:defRPr>
            </a:pPr>
            <a:r>
              <a:t>• Sheela Akshar Sakhi (Lead) [CB.SC.U4CSE23547] — Lead ML &amp; Federated Architect</a:t>
            </a:r>
          </a:p>
          <a:p>
            <a:pPr>
              <a:spcBef>
                <a:spcPts val="400"/>
              </a:spcBef>
              <a:defRPr sz="1050">
                <a:solidFill>
                  <a:srgbClr val="1E293B"/>
                </a:solidFill>
              </a:defRPr>
            </a:pPr>
            <a:r>
              <a:t>• Hasini Reddy M [CB.SC.U4CSE23529] — Federated Pipelines &amp; Imputation</a:t>
            </a:r>
          </a:p>
          <a:p>
            <a:pPr>
              <a:spcBef>
                <a:spcPts val="400"/>
              </a:spcBef>
              <a:defRPr sz="1050">
                <a:solidFill>
                  <a:srgbClr val="1E293B"/>
                </a:solidFill>
              </a:defRPr>
            </a:pPr>
            <a:r>
              <a:t>• Kousik Sarma Lakkaraju [CB.SC.U4CSE23761] — Dual-Phase Attention &amp; XAI</a:t>
            </a:r>
          </a:p>
          <a:p>
            <a:pPr>
              <a:spcBef>
                <a:spcPts val="400"/>
              </a:spcBef>
              <a:defRPr sz="1050">
                <a:solidFill>
                  <a:srgbClr val="1E293B"/>
                </a:solidFill>
              </a:defRPr>
            </a:pPr>
            <a:r>
              <a:t>• Haswitha K [CB.SC.U4CSE23363] — Statistical Validation &amp; Bootstrap</a:t>
            </a:r>
          </a:p>
          <a:p>
            <a:pPr>
              <a:spcBef>
                <a:spcPts val="400"/>
              </a:spcBef>
              <a:defRPr sz="1050">
                <a:solidFill>
                  <a:srgbClr val="1E293B"/>
                </a:solidFill>
              </a:defRPr>
            </a:pPr>
            <a:r>
              <a:t>• V. Chakravarthy [CB.SC.U4CSE23753] — Clinical Workstation &amp; CDSS UI</a:t>
            </a:r>
          </a:p>
        </p:txBody>
      </p:sp>
      <p:sp>
        <p:nvSpPr>
          <p:cNvPr id="6" name="Rounded Rectangle 5"/>
          <p:cNvSpPr/>
          <p:nvPr/>
        </p:nvSpPr>
        <p:spPr>
          <a:xfrm>
            <a:off x="6126480" y="2651760"/>
            <a:ext cx="5120640" cy="3383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09360" y="2834640"/>
            <a:ext cx="4754880" cy="3017520"/>
          </a:xfrm>
          <a:prstGeom prst="rect">
            <a:avLst/>
          </a:prstGeom>
          <a:noFill/>
        </p:spPr>
        <p:txBody>
          <a:bodyPr wrap="square">
            <a:spAutoFit/>
          </a:bodyPr>
          <a:lstStyle/>
          <a:p>
            <a:pPr>
              <a:defRPr sz="1400" b="1">
                <a:solidFill>
                  <a:srgbClr val="0F172A"/>
                </a:solidFill>
              </a:defRPr>
            </a:pPr>
            <a:r>
              <a:t>Academic &amp; Clinical Supervision</a:t>
            </a:r>
          </a:p>
          <a:p>
            <a:pPr>
              <a:spcBef>
                <a:spcPts val="400"/>
              </a:spcBef>
              <a:defRPr sz="1050">
                <a:solidFill>
                  <a:srgbClr val="1E293B"/>
                </a:solidFill>
              </a:defRPr>
            </a:pPr>
            <a:r>
              <a:t>• Dr. G. R. Ramya, M.Tech, Ph.D: Primary Guide, Assistant Professor (Sr. Gr.), Department of CSE</a:t>
            </a:r>
          </a:p>
          <a:p>
            <a:pPr>
              <a:spcBef>
                <a:spcPts val="400"/>
              </a:spcBef>
              <a:defRPr sz="1050">
                <a:solidFill>
                  <a:srgbClr val="1E293B"/>
                </a:solidFill>
              </a:defRPr>
            </a:pPr>
            <a:r>
              <a:t>• Dr. Vandhana S, M.Tech, Ph.D: Co-Guide, Assistant Professor, Department of CSE</a:t>
            </a:r>
          </a:p>
          <a:p>
            <a:pPr>
              <a:spcBef>
                <a:spcPts val="400"/>
              </a:spcBef>
              <a:defRPr sz="1050">
                <a:solidFill>
                  <a:srgbClr val="1E293B"/>
                </a:solidFill>
              </a:defRPr>
            </a:pPr>
            <a:r>
              <a:t>• Dr. Pallavi, MD: Clinical Consultant (Attending Intensivist / Critical Care Medicine)</a:t>
            </a:r>
          </a:p>
          <a:p>
            <a:pPr>
              <a:spcBef>
                <a:spcPts val="400"/>
              </a:spcBef>
              <a:defRPr sz="1050">
                <a:solidFill>
                  <a:srgbClr val="1E293B"/>
                </a:solidFill>
              </a:defRPr>
            </a:pPr>
            <a:r>
              <a:t>• Department of Computer Science &amp; Engineering: Amrita School of Computing, Amrita Vishwa Vidyapeetham, Coimbatore</a:t>
            </a:r>
          </a:p>
          <a:p>
            <a:pPr>
              <a:spcBef>
                <a:spcPts val="400"/>
              </a:spcBef>
              <a:defRPr sz="1050">
                <a:solidFill>
                  <a:srgbClr val="1E293B"/>
                </a:solidFill>
              </a:defRPr>
            </a:pPr>
            <a:r>
              <a:t>• Target Submissions: IEEE JBHI, JMIR Med Inform, Elsevier AIIM, Springer Nature SNCS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A4123F"/>
                </a:solidFill>
              </a:defRPr>
            </a:pPr>
            <a:r>
              <a:t>CLINICAL IMPERATIVE</a:t>
            </a:r>
          </a:p>
        </p:txBody>
      </p:sp>
      <p:sp>
        <p:nvSpPr>
          <p:cNvPr id="3" name="TextBox 2"/>
          <p:cNvSpPr txBox="1"/>
          <p:nvPr/>
        </p:nvSpPr>
        <p:spPr>
          <a:xfrm>
            <a:off x="731520" y="640080"/>
            <a:ext cx="10698480" cy="548640"/>
          </a:xfrm>
          <a:prstGeom prst="rect">
            <a:avLst/>
          </a:prstGeom>
          <a:noFill/>
        </p:spPr>
        <p:txBody>
          <a:bodyPr wrap="square" lIns="0" tIns="0" rIns="0" bIns="0">
            <a:spAutoFit/>
          </a:bodyPr>
          <a:lstStyle/>
          <a:p>
            <a:pPr>
              <a:defRPr sz="2200" b="1">
                <a:solidFill>
                  <a:srgbClr val="0F172A"/>
                </a:solidFill>
              </a:defRPr>
            </a:pPr>
            <a:r>
              <a:t>Clinical Problem &amp; Critical Care Motivation</a:t>
            </a:r>
          </a:p>
        </p:txBody>
      </p:sp>
      <p:sp>
        <p:nvSpPr>
          <p:cNvPr id="4" name="Rounded Rectangle 3"/>
          <p:cNvSpPr/>
          <p:nvPr/>
        </p:nvSpPr>
        <p:spPr>
          <a:xfrm>
            <a:off x="731520" y="1371600"/>
            <a:ext cx="338328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3017520" cy="1645920"/>
          </a:xfrm>
          <a:prstGeom prst="rect">
            <a:avLst/>
          </a:prstGeom>
          <a:noFill/>
        </p:spPr>
        <p:txBody>
          <a:bodyPr wrap="square">
            <a:spAutoFit/>
          </a:bodyPr>
          <a:lstStyle/>
          <a:p>
            <a:pPr>
              <a:defRPr sz="2800" b="1">
                <a:solidFill>
                  <a:srgbClr val="A4123F"/>
                </a:solidFill>
              </a:defRPr>
            </a:pPr>
            <a:r>
              <a:t>11 Million</a:t>
            </a:r>
          </a:p>
          <a:p>
            <a:pPr>
              <a:spcBef>
                <a:spcPts val="400"/>
              </a:spcBef>
              <a:defRPr sz="1200" b="1">
                <a:solidFill>
                  <a:srgbClr val="0F172A"/>
                </a:solidFill>
              </a:defRPr>
            </a:pPr>
            <a:r>
              <a:t>Global Annual Sepsis Deaths</a:t>
            </a:r>
          </a:p>
          <a:p>
            <a:pPr>
              <a:spcBef>
                <a:spcPts val="400"/>
              </a:spcBef>
              <a:defRPr sz="950">
                <a:solidFill>
                  <a:srgbClr val="64748B"/>
                </a:solidFill>
              </a:defRPr>
            </a:pPr>
            <a:r>
              <a:t>Leading cause of ICU mortality worldwide, accounting for 1 in 5 global deaths (WHO / Lancet 2020).</a:t>
            </a:r>
          </a:p>
        </p:txBody>
      </p:sp>
      <p:sp>
        <p:nvSpPr>
          <p:cNvPr id="6" name="Rounded Rectangle 5"/>
          <p:cNvSpPr/>
          <p:nvPr/>
        </p:nvSpPr>
        <p:spPr>
          <a:xfrm>
            <a:off x="4389120" y="1371600"/>
            <a:ext cx="338328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554480"/>
            <a:ext cx="3017520" cy="1645920"/>
          </a:xfrm>
          <a:prstGeom prst="rect">
            <a:avLst/>
          </a:prstGeom>
          <a:noFill/>
        </p:spPr>
        <p:txBody>
          <a:bodyPr wrap="square">
            <a:spAutoFit/>
          </a:bodyPr>
          <a:lstStyle/>
          <a:p>
            <a:pPr>
              <a:defRPr sz="2800" b="1">
                <a:solidFill>
                  <a:srgbClr val="D97706"/>
                </a:solidFill>
              </a:defRPr>
            </a:pPr>
            <a:r>
              <a:t>7.6% - 8.0%</a:t>
            </a:r>
          </a:p>
          <a:p>
            <a:pPr>
              <a:spcBef>
                <a:spcPts val="400"/>
              </a:spcBef>
              <a:defRPr sz="1200" b="1">
                <a:solidFill>
                  <a:srgbClr val="0F172A"/>
                </a:solidFill>
              </a:defRPr>
            </a:pPr>
            <a:r>
              <a:t>Mortality Hike Per Hour Delayed</a:t>
            </a:r>
          </a:p>
          <a:p>
            <a:pPr>
              <a:spcBef>
                <a:spcPts val="400"/>
              </a:spcBef>
              <a:defRPr sz="950">
                <a:solidFill>
                  <a:srgbClr val="64748B"/>
                </a:solidFill>
              </a:defRPr>
            </a:pPr>
            <a:r>
              <a:t>Each hour of delay in protocolized antimicrobial administration increases septic shock mortality (Kumar et al., CCM).</a:t>
            </a:r>
          </a:p>
        </p:txBody>
      </p:sp>
      <p:sp>
        <p:nvSpPr>
          <p:cNvPr id="8" name="Rounded Rectangle 7"/>
          <p:cNvSpPr/>
          <p:nvPr/>
        </p:nvSpPr>
        <p:spPr>
          <a:xfrm>
            <a:off x="8046720" y="1371600"/>
            <a:ext cx="338328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554480"/>
            <a:ext cx="3017520" cy="1645920"/>
          </a:xfrm>
          <a:prstGeom prst="rect">
            <a:avLst/>
          </a:prstGeom>
          <a:noFill/>
        </p:spPr>
        <p:txBody>
          <a:bodyPr wrap="square">
            <a:spAutoFit/>
          </a:bodyPr>
          <a:lstStyle/>
          <a:p>
            <a:pPr>
              <a:defRPr sz="2800" b="1">
                <a:solidFill>
                  <a:srgbClr val="0F766E"/>
                </a:solidFill>
              </a:defRPr>
            </a:pPr>
            <a:r>
              <a:t>40 Variables</a:t>
            </a:r>
          </a:p>
          <a:p>
            <a:pPr>
              <a:spcBef>
                <a:spcPts val="400"/>
              </a:spcBef>
              <a:defRPr sz="1200" b="1">
                <a:solidFill>
                  <a:srgbClr val="0F172A"/>
                </a:solidFill>
              </a:defRPr>
            </a:pPr>
            <a:r>
              <a:t>Continuous Telemetry Burden</a:t>
            </a:r>
          </a:p>
          <a:p>
            <a:pPr>
              <a:spcBef>
                <a:spcPts val="400"/>
              </a:spcBef>
              <a:defRPr sz="950">
                <a:solidFill>
                  <a:srgbClr val="64748B"/>
                </a:solidFill>
              </a:defRPr>
            </a:pPr>
            <a:r>
              <a:t>High-frequency vital signs and lab tests create overwhelming cognitive load and clinical alert fatigue.</a:t>
            </a:r>
          </a:p>
        </p:txBody>
      </p:sp>
      <p:sp>
        <p:nvSpPr>
          <p:cNvPr id="10" name="Rounded Rectangle 9"/>
          <p:cNvSpPr/>
          <p:nvPr/>
        </p:nvSpPr>
        <p:spPr>
          <a:xfrm>
            <a:off x="731520" y="3657600"/>
            <a:ext cx="10698480" cy="25603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840480"/>
            <a:ext cx="10332720" cy="2194560"/>
          </a:xfrm>
          <a:prstGeom prst="rect">
            <a:avLst/>
          </a:prstGeom>
          <a:noFill/>
        </p:spPr>
        <p:txBody>
          <a:bodyPr wrap="square">
            <a:spAutoFit/>
          </a:bodyPr>
          <a:lstStyle/>
          <a:p>
            <a:pPr>
              <a:defRPr sz="1400" b="1">
                <a:solidFill>
                  <a:srgbClr val="A4123F"/>
                </a:solidFill>
              </a:defRPr>
            </a:pPr>
            <a:r>
              <a:t>The Paradigm Shift: From Reactive Scoring to Continuous Predictive Intelligence</a:t>
            </a:r>
          </a:p>
          <a:p>
            <a:pPr>
              <a:spcBef>
                <a:spcPts val="600"/>
              </a:spcBef>
              <a:defRPr sz="1100">
                <a:solidFill>
                  <a:srgbClr val="1E293B"/>
                </a:solidFill>
              </a:defRPr>
            </a:pPr>
            <a:r>
              <a:t>• Traditional Bedside Scoring (SOFA / qSOFA / SIRS): Static, episodic, rules-based, and lagging. By the time SOFA drops by &gt;= 2 points, organ failure has already commenced.</a:t>
            </a:r>
          </a:p>
          <a:p>
            <a:pPr>
              <a:spcBef>
                <a:spcPts val="600"/>
              </a:spcBef>
              <a:defRPr sz="1100">
                <a:solidFill>
                  <a:srgbClr val="1E293B"/>
                </a:solidFill>
              </a:defRPr>
            </a:pPr>
            <a:r>
              <a:t>• Clinical Requirement: An automated surveillance model that operates continuously on 24-hour sliding temporal windows, providing a 4 to 6-hour advance warning horizon prior to septic shock onset.</a:t>
            </a:r>
          </a:p>
          <a:p>
            <a:pPr>
              <a:spcBef>
                <a:spcPts val="600"/>
              </a:spcBef>
              <a:defRPr sz="1100">
                <a:solidFill>
                  <a:srgbClr val="1E293B"/>
                </a:solidFill>
              </a:defRPr>
            </a:pPr>
            <a:r>
              <a:t>• The Deployment Dilemma: Centralized deep learning requires pooling hundreds of thousands of longitudinal EHR records into a single cloud warehouse, triggering severe legal, institutional, and patient privacy barriers.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A4123F"/>
                </a:solidFill>
              </a:defRPr>
            </a:pPr>
            <a:r>
              <a:t>LITERATURE &amp; TRANSLATION GAPS</a:t>
            </a:r>
          </a:p>
        </p:txBody>
      </p:sp>
      <p:sp>
        <p:nvSpPr>
          <p:cNvPr id="3" name="TextBox 2"/>
          <p:cNvSpPr txBox="1"/>
          <p:nvPr/>
        </p:nvSpPr>
        <p:spPr>
          <a:xfrm>
            <a:off x="731520" y="640080"/>
            <a:ext cx="10698480" cy="548640"/>
          </a:xfrm>
          <a:prstGeom prst="rect">
            <a:avLst/>
          </a:prstGeom>
          <a:noFill/>
        </p:spPr>
        <p:txBody>
          <a:bodyPr wrap="square" lIns="0" tIns="0" rIns="0" bIns="0">
            <a:spAutoFit/>
          </a:bodyPr>
          <a:lstStyle/>
          <a:p>
            <a:pPr>
              <a:defRPr sz="2200" b="1">
                <a:solidFill>
                  <a:srgbClr val="0F172A"/>
                </a:solidFill>
              </a:defRPr>
            </a:pPr>
            <a:r>
              <a:t>The Three Foundational Research Gaps</a:t>
            </a:r>
          </a:p>
        </p:txBody>
      </p:sp>
      <p:sp>
        <p:nvSpPr>
          <p:cNvPr id="4" name="Rounded Rectangle 3"/>
          <p:cNvSpPr/>
          <p:nvPr/>
        </p:nvSpPr>
        <p:spPr>
          <a:xfrm>
            <a:off x="731520" y="1371600"/>
            <a:ext cx="3383280" cy="4846320"/>
          </a:xfrm>
          <a:prstGeom prst="roundRect">
            <a:avLst/>
          </a:prstGeom>
          <a:solidFill>
            <a:srgbClr val="FFFFFF"/>
          </a:solidFill>
          <a:ln w="12700">
            <a:solidFill>
              <a:srgbClr val="A41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3017520" cy="4480560"/>
          </a:xfrm>
          <a:prstGeom prst="rect">
            <a:avLst/>
          </a:prstGeom>
          <a:noFill/>
        </p:spPr>
        <p:txBody>
          <a:bodyPr wrap="square">
            <a:spAutoFit/>
          </a:bodyPr>
          <a:lstStyle/>
          <a:p>
            <a:pPr>
              <a:defRPr sz="1400" b="1">
                <a:solidFill>
                  <a:srgbClr val="A4123F"/>
                </a:solidFill>
              </a:defRPr>
            </a:pPr>
            <a:r>
              <a:t>Gap 1: The Privacy Gap</a:t>
            </a:r>
          </a:p>
          <a:p>
            <a:pPr>
              <a:spcBef>
                <a:spcPts val="400"/>
              </a:spcBef>
              <a:defRPr sz="1100" b="1">
                <a:solidFill>
                  <a:srgbClr val="0F172A"/>
                </a:solidFill>
              </a:defRPr>
            </a:pPr>
            <a:r>
              <a:t>Centralization Prohibited by Statute</a:t>
            </a:r>
          </a:p>
          <a:p>
            <a:pPr>
              <a:spcBef>
                <a:spcPts val="600"/>
              </a:spcBef>
              <a:defRPr sz="950">
                <a:solidFill>
                  <a:srgbClr val="1E293B"/>
                </a:solidFill>
              </a:defRPr>
            </a:pPr>
            <a:r>
              <a:t>• HIPAA (US Safe Harbor), GDPR (EU Article 9), and India's DPDPA 2023 legally prohibit sharing identifiable electronic health records across institutional boundaries.</a:t>
            </a:r>
          </a:p>
          <a:p>
            <a:pPr>
              <a:spcBef>
                <a:spcPts val="600"/>
              </a:spcBef>
              <a:defRPr sz="950">
                <a:solidFill>
                  <a:srgbClr val="1E293B"/>
                </a:solidFill>
              </a:defRPr>
            </a:pPr>
            <a:r>
              <a:t>• ICU telemetry is rich in high-frequency quasi-identifiers that preclude simple anonymization.</a:t>
            </a:r>
          </a:p>
          <a:p>
            <a:pPr>
              <a:spcBef>
                <a:spcPts val="600"/>
              </a:spcBef>
              <a:defRPr sz="950">
                <a:solidFill>
                  <a:srgbClr val="1E293B"/>
                </a:solidFill>
              </a:defRPr>
            </a:pPr>
            <a:r>
              <a:t>• Multi-center collaborative training must occur without raw data exchange.</a:t>
            </a:r>
          </a:p>
        </p:txBody>
      </p:sp>
      <p:sp>
        <p:nvSpPr>
          <p:cNvPr id="6" name="Rounded Rectangle 5"/>
          <p:cNvSpPr/>
          <p:nvPr/>
        </p:nvSpPr>
        <p:spPr>
          <a:xfrm>
            <a:off x="4389120" y="1371600"/>
            <a:ext cx="3383280" cy="4846320"/>
          </a:xfrm>
          <a:prstGeom prst="roundRect">
            <a:avLst/>
          </a:prstGeom>
          <a:solidFill>
            <a:srgbClr val="FFFFFF"/>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554480"/>
            <a:ext cx="3017520" cy="4480560"/>
          </a:xfrm>
          <a:prstGeom prst="rect">
            <a:avLst/>
          </a:prstGeom>
          <a:noFill/>
        </p:spPr>
        <p:txBody>
          <a:bodyPr wrap="square">
            <a:spAutoFit/>
          </a:bodyPr>
          <a:lstStyle/>
          <a:p>
            <a:pPr>
              <a:defRPr sz="1400" b="1">
                <a:solidFill>
                  <a:srgbClr val="0F172A"/>
                </a:solidFill>
              </a:defRPr>
            </a:pPr>
            <a:r>
              <a:t>Gap 2: The Accuracy Gap</a:t>
            </a:r>
          </a:p>
          <a:p>
            <a:pPr>
              <a:spcBef>
                <a:spcPts val="400"/>
              </a:spcBef>
              <a:defRPr sz="1100" b="1">
                <a:solidFill>
                  <a:srgbClr val="0F172A"/>
                </a:solidFill>
              </a:defRPr>
            </a:pPr>
            <a:r>
              <a:t>Multi-Center Non-IID Drift</a:t>
            </a:r>
          </a:p>
          <a:p>
            <a:pPr>
              <a:spcBef>
                <a:spcPts val="600"/>
              </a:spcBef>
              <a:defRPr sz="950">
                <a:solidFill>
                  <a:srgbClr val="1E293B"/>
                </a:solidFill>
              </a:defRPr>
            </a:pPr>
            <a:r>
              <a:t>• Community hospitals vs. tertiary surgical centers exhibit severe demographic and case-mix heterogeneity.</a:t>
            </a:r>
          </a:p>
          <a:p>
            <a:pPr>
              <a:spcBef>
                <a:spcPts val="600"/>
              </a:spcBef>
              <a:defRPr sz="950">
                <a:solidFill>
                  <a:srgbClr val="1E293B"/>
                </a:solidFill>
              </a:defRPr>
            </a:pPr>
            <a:r>
              <a:t>• Standard federated consensus (FedAvg) aggregates parameters indiscriminately, suffering client drift and poor local generalization.</a:t>
            </a:r>
          </a:p>
          <a:p>
            <a:pPr>
              <a:spcBef>
                <a:spcPts val="600"/>
              </a:spcBef>
              <a:defRPr sz="950">
                <a:solidFill>
                  <a:srgbClr val="1E293B"/>
                </a:solidFill>
              </a:defRPr>
            </a:pPr>
            <a:r>
              <a:t>• Local acute drift causes catastrophic model failure if not tracked online.</a:t>
            </a:r>
          </a:p>
        </p:txBody>
      </p:sp>
      <p:sp>
        <p:nvSpPr>
          <p:cNvPr id="8" name="Rounded Rectangle 7"/>
          <p:cNvSpPr/>
          <p:nvPr/>
        </p:nvSpPr>
        <p:spPr>
          <a:xfrm>
            <a:off x="8046720" y="1371600"/>
            <a:ext cx="3383280" cy="4846320"/>
          </a:xfrm>
          <a:prstGeom prst="roundRect">
            <a:avLst/>
          </a:prstGeom>
          <a:solidFill>
            <a:srgbClr val="FFFFFF"/>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554480"/>
            <a:ext cx="3017520" cy="4480560"/>
          </a:xfrm>
          <a:prstGeom prst="rect">
            <a:avLst/>
          </a:prstGeom>
          <a:noFill/>
        </p:spPr>
        <p:txBody>
          <a:bodyPr wrap="square">
            <a:spAutoFit/>
          </a:bodyPr>
          <a:lstStyle/>
          <a:p>
            <a:pPr>
              <a:defRPr sz="1400" b="1">
                <a:solidFill>
                  <a:srgbClr val="0F766E"/>
                </a:solidFill>
              </a:defRPr>
            </a:pPr>
            <a:r>
              <a:t>Gap 3: The Trust Gap</a:t>
            </a:r>
          </a:p>
          <a:p>
            <a:pPr>
              <a:spcBef>
                <a:spcPts val="400"/>
              </a:spcBef>
              <a:defRPr sz="1100" b="1">
                <a:solidFill>
                  <a:srgbClr val="0F172A"/>
                </a:solidFill>
              </a:defRPr>
            </a:pPr>
            <a:r>
              <a:t>Alert Fatigue &amp; Miscalibration</a:t>
            </a:r>
          </a:p>
          <a:p>
            <a:pPr>
              <a:spcBef>
                <a:spcPts val="600"/>
              </a:spcBef>
              <a:defRPr sz="950">
                <a:solidFill>
                  <a:srgbClr val="1E293B"/>
                </a:solidFill>
              </a:defRPr>
            </a:pPr>
            <a:r>
              <a:t>• High-capacity neural networks produce uncalibrated probabilities, causing high false alarm rates (&gt;85%).</a:t>
            </a:r>
          </a:p>
          <a:p>
            <a:pPr>
              <a:spcBef>
                <a:spcPts val="600"/>
              </a:spcBef>
              <a:defRPr sz="950">
                <a:solidFill>
                  <a:srgbClr val="1E293B"/>
                </a:solidFill>
              </a:defRPr>
            </a:pPr>
            <a:r>
              <a:t>• Clinicians disregard alarms when Expected Calibration Error (ECE) is elevated, leading to alarm desensitization.</a:t>
            </a:r>
          </a:p>
          <a:p>
            <a:pPr>
              <a:spcBef>
                <a:spcPts val="600"/>
              </a:spcBef>
              <a:defRPr sz="950">
                <a:solidFill>
                  <a:srgbClr val="1E293B"/>
                </a:solidFill>
              </a:defRPr>
            </a:pPr>
            <a:r>
              <a:t>• Lack of temporal attribution and feature saliency leaves clinicians unable to verify model rationale.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A4123F"/>
                </a:solidFill>
              </a:defRPr>
            </a:pPr>
            <a:r>
              <a:t>METHODOLOGICAL FORMULATION</a:t>
            </a:r>
          </a:p>
        </p:txBody>
      </p:sp>
      <p:sp>
        <p:nvSpPr>
          <p:cNvPr id="3" name="TextBox 2"/>
          <p:cNvSpPr txBox="1"/>
          <p:nvPr/>
        </p:nvSpPr>
        <p:spPr>
          <a:xfrm>
            <a:off x="731520" y="640080"/>
            <a:ext cx="10698480" cy="548640"/>
          </a:xfrm>
          <a:prstGeom prst="rect">
            <a:avLst/>
          </a:prstGeom>
          <a:noFill/>
        </p:spPr>
        <p:txBody>
          <a:bodyPr wrap="square" lIns="0" tIns="0" rIns="0" bIns="0">
            <a:spAutoFit/>
          </a:bodyPr>
          <a:lstStyle/>
          <a:p>
            <a:pPr>
              <a:defRPr sz="2200" b="1">
                <a:solidFill>
                  <a:srgbClr val="0F172A"/>
                </a:solidFill>
              </a:defRPr>
            </a:pPr>
            <a:r>
              <a:t>Project Objectives &amp; Core Research Questions</a:t>
            </a:r>
          </a:p>
        </p:txBody>
      </p:sp>
      <p:sp>
        <p:nvSpPr>
          <p:cNvPr id="4" name="Rounded Rectangle 3"/>
          <p:cNvSpPr/>
          <p:nvPr/>
        </p:nvSpPr>
        <p:spPr>
          <a:xfrm>
            <a:off x="731520" y="1371600"/>
            <a:ext cx="106984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08760"/>
            <a:ext cx="10332720" cy="822960"/>
          </a:xfrm>
          <a:prstGeom prst="rect">
            <a:avLst/>
          </a:prstGeom>
          <a:noFill/>
        </p:spPr>
        <p:txBody>
          <a:bodyPr wrap="square">
            <a:spAutoFit/>
          </a:bodyPr>
          <a:lstStyle/>
          <a:p>
            <a:pPr>
              <a:defRPr sz="1300" b="1">
                <a:solidFill>
                  <a:srgbClr val="A4123F"/>
                </a:solidFill>
              </a:defRPr>
            </a:pPr>
            <a:r>
              <a:t>RQ1: Privacy-Preserving Discrimination</a:t>
            </a:r>
          </a:p>
          <a:p>
            <a:pPr>
              <a:spcBef>
                <a:spcPts val="300"/>
              </a:spcBef>
              <a:defRPr sz="1050">
                <a:solidFill>
                  <a:srgbClr val="1E293B"/>
                </a:solidFill>
              </a:defRPr>
            </a:pPr>
            <a:r>
              <a:t>Can a decentralized federated architecture achieve predictive discrimination statistically comparable to centralized training on multi-center ICU cohorts without sharing raw telemetry?</a:t>
            </a:r>
          </a:p>
        </p:txBody>
      </p:sp>
      <p:sp>
        <p:nvSpPr>
          <p:cNvPr id="6" name="Rounded Rectangle 5"/>
          <p:cNvSpPr/>
          <p:nvPr/>
        </p:nvSpPr>
        <p:spPr>
          <a:xfrm>
            <a:off x="731520" y="2606040"/>
            <a:ext cx="106984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743200"/>
            <a:ext cx="10332720" cy="822960"/>
          </a:xfrm>
          <a:prstGeom prst="rect">
            <a:avLst/>
          </a:prstGeom>
          <a:noFill/>
        </p:spPr>
        <p:txBody>
          <a:bodyPr wrap="square">
            <a:spAutoFit/>
          </a:bodyPr>
          <a:lstStyle/>
          <a:p>
            <a:pPr>
              <a:defRPr sz="1300" b="1">
                <a:solidFill>
                  <a:srgbClr val="A4123F"/>
                </a:solidFill>
              </a:defRPr>
            </a:pPr>
            <a:r>
              <a:t>RQ2: Real-Time Non-IID Drift Detection</a:t>
            </a:r>
          </a:p>
          <a:p>
            <a:pPr>
              <a:spcBef>
                <a:spcPts val="300"/>
              </a:spcBef>
              <a:defRPr sz="1050">
                <a:solidFill>
                  <a:srgbClr val="1E293B"/>
                </a:solidFill>
              </a:defRPr>
            </a:pPr>
            <a:r>
              <a:t>How can individual hospital edge nodes reliably detect clinical and demographic distribution shifts in real time without generating false triggers from stochastic mini-batch noise?</a:t>
            </a:r>
          </a:p>
        </p:txBody>
      </p:sp>
      <p:sp>
        <p:nvSpPr>
          <p:cNvPr id="8" name="Rounded Rectangle 7"/>
          <p:cNvSpPr/>
          <p:nvPr/>
        </p:nvSpPr>
        <p:spPr>
          <a:xfrm>
            <a:off x="731520" y="3840480"/>
            <a:ext cx="106984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977640"/>
            <a:ext cx="10332720" cy="822960"/>
          </a:xfrm>
          <a:prstGeom prst="rect">
            <a:avLst/>
          </a:prstGeom>
          <a:noFill/>
        </p:spPr>
        <p:txBody>
          <a:bodyPr wrap="square">
            <a:spAutoFit/>
          </a:bodyPr>
          <a:lstStyle/>
          <a:p>
            <a:pPr>
              <a:defRPr sz="1300" b="1">
                <a:solidFill>
                  <a:srgbClr val="A4123F"/>
                </a:solidFill>
              </a:defRPr>
            </a:pPr>
            <a:r>
              <a:t>RQ3: Calibrated Personalization Under Shift</a:t>
            </a:r>
          </a:p>
          <a:p>
            <a:pPr>
              <a:spcBef>
                <a:spcPts val="300"/>
              </a:spcBef>
              <a:defRPr sz="1050">
                <a:solidFill>
                  <a:srgbClr val="1E293B"/>
                </a:solidFill>
              </a:defRPr>
            </a:pPr>
            <a:r>
              <a:t>Can dynamic cross-attention and bi-level parameter anchoring mitigate predictive overconfidence and reduce Expected Calibration Error (ECE) during local client adaptation?</a:t>
            </a:r>
          </a:p>
        </p:txBody>
      </p:sp>
      <p:sp>
        <p:nvSpPr>
          <p:cNvPr id="10" name="Rounded Rectangle 9"/>
          <p:cNvSpPr/>
          <p:nvPr/>
        </p:nvSpPr>
        <p:spPr>
          <a:xfrm>
            <a:off x="731520" y="5074920"/>
            <a:ext cx="106984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212080"/>
            <a:ext cx="10332720" cy="822960"/>
          </a:xfrm>
          <a:prstGeom prst="rect">
            <a:avLst/>
          </a:prstGeom>
          <a:noFill/>
        </p:spPr>
        <p:txBody>
          <a:bodyPr wrap="square">
            <a:spAutoFit/>
          </a:bodyPr>
          <a:lstStyle/>
          <a:p>
            <a:pPr>
              <a:defRPr sz="1300" b="1">
                <a:solidFill>
                  <a:srgbClr val="A4123F"/>
                </a:solidFill>
              </a:defRPr>
            </a:pPr>
            <a:r>
              <a:t>RQ4: Bandwidth-Efficient Uplink Suppression</a:t>
            </a:r>
          </a:p>
          <a:p>
            <a:pPr>
              <a:spcBef>
                <a:spcPts val="300"/>
              </a:spcBef>
              <a:defRPr sz="1050">
                <a:solidFill>
                  <a:srgbClr val="1E293B"/>
                </a:solidFill>
              </a:defRPr>
            </a:pPr>
            <a:r>
              <a:t>Can client nodes selectively suppress parameter uplink transmission during active drift adaptation without destabilizing global consensus or increasing communication costs?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A4123F"/>
                </a:solidFill>
              </a:defRPr>
            </a:pPr>
            <a:r>
              <a:t>ALGORITHMIC INNOVATIONS</a:t>
            </a:r>
          </a:p>
        </p:txBody>
      </p:sp>
      <p:sp>
        <p:nvSpPr>
          <p:cNvPr id="3" name="TextBox 2"/>
          <p:cNvSpPr txBox="1"/>
          <p:nvPr/>
        </p:nvSpPr>
        <p:spPr>
          <a:xfrm>
            <a:off x="731520" y="640080"/>
            <a:ext cx="10698480" cy="548640"/>
          </a:xfrm>
          <a:prstGeom prst="rect">
            <a:avLst/>
          </a:prstGeom>
          <a:noFill/>
        </p:spPr>
        <p:txBody>
          <a:bodyPr wrap="square" lIns="0" tIns="0" rIns="0" bIns="0">
            <a:spAutoFit/>
          </a:bodyPr>
          <a:lstStyle/>
          <a:p>
            <a:pPr>
              <a:defRPr sz="2200" b="1">
                <a:solidFill>
                  <a:srgbClr val="0F172A"/>
                </a:solidFill>
              </a:defRPr>
            </a:pPr>
            <a:r>
              <a:t>The Proposed FPDAF-v2 Framework Architecture</a:t>
            </a:r>
          </a:p>
        </p:txBody>
      </p:sp>
      <p:sp>
        <p:nvSpPr>
          <p:cNvPr id="4" name="Rounded Rectangle 3"/>
          <p:cNvSpPr/>
          <p:nvPr/>
        </p:nvSpPr>
        <p:spPr>
          <a:xfrm>
            <a:off x="731520" y="1371600"/>
            <a:ext cx="3383280" cy="4846320"/>
          </a:xfrm>
          <a:prstGeom prst="roundRect">
            <a:avLst/>
          </a:prstGeom>
          <a:solidFill>
            <a:srgbClr val="FFFFFF"/>
          </a:solidFill>
          <a:ln w="12700">
            <a:solidFill>
              <a:srgbClr val="A41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3017520" cy="4480560"/>
          </a:xfrm>
          <a:prstGeom prst="rect">
            <a:avLst/>
          </a:prstGeom>
          <a:noFill/>
        </p:spPr>
        <p:txBody>
          <a:bodyPr wrap="square">
            <a:spAutoFit/>
          </a:bodyPr>
          <a:lstStyle/>
          <a:p>
            <a:pPr>
              <a:defRPr sz="1400" b="1">
                <a:solidFill>
                  <a:srgbClr val="A4123F"/>
                </a:solidFill>
              </a:defRPr>
            </a:pPr>
            <a:r>
              <a:t>Pillar 1: AD-CUSUM</a:t>
            </a:r>
          </a:p>
          <a:p>
            <a:pPr>
              <a:spcBef>
                <a:spcPts val="400"/>
              </a:spcBef>
              <a:defRPr sz="1100" b="1">
                <a:solidFill>
                  <a:srgbClr val="0F172A"/>
                </a:solidFill>
              </a:defRPr>
            </a:pPr>
            <a:r>
              <a:t>Adaptive Drift Detection</a:t>
            </a:r>
          </a:p>
          <a:p>
            <a:pPr>
              <a:spcBef>
                <a:spcPts val="600"/>
              </a:spcBef>
              <a:defRPr sz="950">
                <a:solidFill>
                  <a:srgbClr val="1E293B"/>
                </a:solidFill>
              </a:defRPr>
            </a:pPr>
            <a:r>
              <a:t>• Computes Jensen-Shannon Divergence (JSD) of prediction distributions against reference validation states.</a:t>
            </a:r>
          </a:p>
          <a:p>
            <a:pPr>
              <a:spcBef>
                <a:spcPts val="600"/>
              </a:spcBef>
              <a:defRPr sz="950">
                <a:solidFill>
                  <a:srgbClr val="1E293B"/>
                </a:solidFill>
              </a:defRPr>
            </a:pPr>
            <a:r>
              <a:t>• Tracks classifier head gradient variance.</a:t>
            </a:r>
          </a:p>
          <a:p>
            <a:pPr>
              <a:spcBef>
                <a:spcPts val="600"/>
              </a:spcBef>
              <a:defRPr sz="950">
                <a:solidFill>
                  <a:srgbClr val="1E293B"/>
                </a:solidFill>
              </a:defRPr>
            </a:pPr>
            <a:r>
              <a:t>• Dynamically scales drift slack threshold based on divergence and gradient noise.</a:t>
            </a:r>
          </a:p>
          <a:p>
            <a:pPr>
              <a:spcBef>
                <a:spcPts val="600"/>
              </a:spcBef>
              <a:defRPr sz="950">
                <a:solidFill>
                  <a:srgbClr val="1E293B"/>
                </a:solidFill>
              </a:defRPr>
            </a:pPr>
            <a:r>
              <a:t>• Filters stochastic batch noise, triggering drift adaptation only upon true distribution shifts.</a:t>
            </a:r>
          </a:p>
        </p:txBody>
      </p:sp>
      <p:sp>
        <p:nvSpPr>
          <p:cNvPr id="6" name="Rounded Rectangle 5"/>
          <p:cNvSpPr/>
          <p:nvPr/>
        </p:nvSpPr>
        <p:spPr>
          <a:xfrm>
            <a:off x="4389120" y="1371600"/>
            <a:ext cx="3383280" cy="4846320"/>
          </a:xfrm>
          <a:prstGeom prst="roundRect">
            <a:avLst/>
          </a:prstGeom>
          <a:solidFill>
            <a:srgbClr val="FFFFFF"/>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554480"/>
            <a:ext cx="3017520" cy="4480560"/>
          </a:xfrm>
          <a:prstGeom prst="rect">
            <a:avLst/>
          </a:prstGeom>
          <a:noFill/>
        </p:spPr>
        <p:txBody>
          <a:bodyPr wrap="square">
            <a:spAutoFit/>
          </a:bodyPr>
          <a:lstStyle/>
          <a:p>
            <a:pPr>
              <a:defRPr sz="1400" b="1">
                <a:solidFill>
                  <a:srgbClr val="0F172A"/>
                </a:solidFill>
              </a:defRPr>
            </a:pPr>
            <a:r>
              <a:t>Pillar 2: DDP-ERP</a:t>
            </a:r>
          </a:p>
          <a:p>
            <a:pPr>
              <a:spcBef>
                <a:spcPts val="400"/>
              </a:spcBef>
              <a:defRPr sz="1100" b="1">
                <a:solidFill>
                  <a:srgbClr val="0F172A"/>
                </a:solidFill>
              </a:defRPr>
            </a:pPr>
            <a:r>
              <a:t>Dual-Phase Attention &amp; Anchoring</a:t>
            </a:r>
          </a:p>
          <a:p>
            <a:pPr>
              <a:spcBef>
                <a:spcPts val="600"/>
              </a:spcBef>
              <a:defRPr sz="950">
                <a:solidFill>
                  <a:srgbClr val="1E293B"/>
                </a:solidFill>
              </a:defRPr>
            </a:pPr>
            <a:r>
              <a:t>• Dual-Phase Cross-Attention captures temporal sequence steps (alpha_t) AND vital co-dependencies (beta_v).</a:t>
            </a:r>
          </a:p>
          <a:p>
            <a:pPr>
              <a:spcBef>
                <a:spcPts val="600"/>
              </a:spcBef>
              <a:defRPr sz="950">
                <a:solidFill>
                  <a:srgbClr val="1E293B"/>
                </a:solidFill>
              </a:defRPr>
            </a:pPr>
            <a:r>
              <a:t>• Shared BiLSTM feature extraction backbone synchronized across nodes.</a:t>
            </a:r>
          </a:p>
          <a:p>
            <a:pPr>
              <a:spcBef>
                <a:spcPts val="600"/>
              </a:spcBef>
              <a:defRPr sz="950">
                <a:solidFill>
                  <a:srgbClr val="1E293B"/>
                </a:solidFill>
              </a:defRPr>
            </a:pPr>
            <a:r>
              <a:t>• Bi-level parameter anchoring: penalizes local deviation from global consensus weights.</a:t>
            </a:r>
          </a:p>
          <a:p>
            <a:pPr>
              <a:spcBef>
                <a:spcPts val="600"/>
              </a:spcBef>
              <a:defRPr sz="950">
                <a:solidFill>
                  <a:srgbClr val="1E293B"/>
                </a:solidFill>
              </a:defRPr>
            </a:pPr>
            <a:r>
              <a:t>• Predictive entropy regularization preserves well-calibrated probabilities under covariate shift.</a:t>
            </a:r>
          </a:p>
        </p:txBody>
      </p:sp>
      <p:sp>
        <p:nvSpPr>
          <p:cNvPr id="8" name="Rounded Rectangle 7"/>
          <p:cNvSpPr/>
          <p:nvPr/>
        </p:nvSpPr>
        <p:spPr>
          <a:xfrm>
            <a:off x="8046720" y="1371600"/>
            <a:ext cx="3383280" cy="4846320"/>
          </a:xfrm>
          <a:prstGeom prst="roundRect">
            <a:avLst/>
          </a:prstGeom>
          <a:solidFill>
            <a:srgbClr val="FFFFFF"/>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554480"/>
            <a:ext cx="3017520" cy="4480560"/>
          </a:xfrm>
          <a:prstGeom prst="rect">
            <a:avLst/>
          </a:prstGeom>
          <a:noFill/>
        </p:spPr>
        <p:txBody>
          <a:bodyPr wrap="square">
            <a:spAutoFit/>
          </a:bodyPr>
          <a:lstStyle/>
          <a:p>
            <a:pPr>
              <a:defRPr sz="1400" b="1">
                <a:solidFill>
                  <a:srgbClr val="0F766E"/>
                </a:solidFill>
              </a:defRPr>
            </a:pPr>
            <a:r>
              <a:t>Pillar 3: CSSP</a:t>
            </a:r>
          </a:p>
          <a:p>
            <a:pPr>
              <a:spcBef>
                <a:spcPts val="400"/>
              </a:spcBef>
              <a:defRPr sz="1100" b="1">
                <a:solidFill>
                  <a:srgbClr val="0F172A"/>
                </a:solidFill>
              </a:defRPr>
            </a:pPr>
            <a:r>
              <a:t>Selective Uplink Suppression</a:t>
            </a:r>
          </a:p>
          <a:p>
            <a:pPr>
              <a:spcBef>
                <a:spcPts val="600"/>
              </a:spcBef>
              <a:defRPr sz="950">
                <a:solidFill>
                  <a:srgbClr val="1E293B"/>
                </a:solidFill>
              </a:defRPr>
            </a:pPr>
            <a:r>
              <a:t>• When AD-CUSUM declares drift, node is armed for Client-Side Selective Personalization.</a:t>
            </a:r>
          </a:p>
          <a:p>
            <a:pPr>
              <a:spcBef>
                <a:spcPts val="600"/>
              </a:spcBef>
              <a:defRPr sz="950">
                <a:solidFill>
                  <a:srgbClr val="1E293B"/>
                </a:solidFill>
              </a:defRPr>
            </a:pPr>
            <a:r>
              <a:t>• Drifting client skips consensus parameter upload during adaptation rounds.</a:t>
            </a:r>
          </a:p>
          <a:p>
            <a:pPr>
              <a:spcBef>
                <a:spcPts val="600"/>
              </a:spcBef>
              <a:defRPr sz="950">
                <a:solidFill>
                  <a:srgbClr val="1E293B"/>
                </a:solidFill>
              </a:defRPr>
            </a:pPr>
            <a:r>
              <a:t>• Eliminates network transmission of drifting local weights, protecting global model stability.</a:t>
            </a:r>
          </a:p>
          <a:p>
            <a:pPr>
              <a:spcBef>
                <a:spcPts val="600"/>
              </a:spcBef>
              <a:defRPr sz="950">
                <a:solidFill>
                  <a:srgbClr val="1E293B"/>
                </a:solidFill>
              </a:defRPr>
            </a:pPr>
            <a:r>
              <a:t>• Achieves up to 38.0% communication payload savings in long-horizon federated deployments.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A4123F"/>
                </a:solidFill>
              </a:defRPr>
            </a:pPr>
            <a:r>
              <a:t>DECENTRALIZED TOPOLOGY</a:t>
            </a:r>
          </a:p>
        </p:txBody>
      </p:sp>
      <p:sp>
        <p:nvSpPr>
          <p:cNvPr id="3" name="TextBox 2"/>
          <p:cNvSpPr txBox="1"/>
          <p:nvPr/>
        </p:nvSpPr>
        <p:spPr>
          <a:xfrm>
            <a:off x="731520" y="640080"/>
            <a:ext cx="10698480" cy="548640"/>
          </a:xfrm>
          <a:prstGeom prst="rect">
            <a:avLst/>
          </a:prstGeom>
          <a:noFill/>
        </p:spPr>
        <p:txBody>
          <a:bodyPr wrap="square" lIns="0" tIns="0" rIns="0" bIns="0">
            <a:spAutoFit/>
          </a:bodyPr>
          <a:lstStyle/>
          <a:p>
            <a:pPr>
              <a:defRPr sz="2200" b="1">
                <a:solidFill>
                  <a:srgbClr val="0F172A"/>
                </a:solidFill>
              </a:defRPr>
            </a:pPr>
            <a:r>
              <a:t>Federated Multi-Center Simulation &amp; Node Heterogeneity</a:t>
            </a:r>
          </a:p>
        </p:txBody>
      </p:sp>
      <p:sp>
        <p:nvSpPr>
          <p:cNvPr id="4" name="Rounded Rectangle 3"/>
          <p:cNvSpPr/>
          <p:nvPr/>
        </p:nvSpPr>
        <p:spPr>
          <a:xfrm>
            <a:off x="731520" y="1371600"/>
            <a:ext cx="338328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3017520" cy="4480560"/>
          </a:xfrm>
          <a:prstGeom prst="rect">
            <a:avLst/>
          </a:prstGeom>
          <a:noFill/>
        </p:spPr>
        <p:txBody>
          <a:bodyPr wrap="square">
            <a:spAutoFit/>
          </a:bodyPr>
          <a:lstStyle/>
          <a:p>
            <a:pPr>
              <a:defRPr sz="1400" b="1">
                <a:solidFill>
                  <a:srgbClr val="A4123F"/>
                </a:solidFill>
              </a:defRPr>
            </a:pPr>
            <a:r>
              <a:t>Hospital Node 0</a:t>
            </a:r>
          </a:p>
          <a:p>
            <a:pPr>
              <a:spcBef>
                <a:spcPts val="300"/>
              </a:spcBef>
              <a:defRPr sz="1100" b="1">
                <a:solidFill>
                  <a:srgbClr val="0F172A"/>
                </a:solidFill>
              </a:defRPr>
            </a:pPr>
            <a:r>
              <a:t>Community Hospital</a:t>
            </a:r>
          </a:p>
          <a:p>
            <a:pPr>
              <a:spcBef>
                <a:spcPts val="500"/>
              </a:spcBef>
              <a:defRPr sz="950">
                <a:solidFill>
                  <a:srgbClr val="1E293B"/>
                </a:solidFill>
              </a:defRPr>
            </a:pPr>
            <a:r>
              <a:t>• Registry Split: Hospital Site 1 (BIDMC), Age &lt; 60</a:t>
            </a:r>
          </a:p>
          <a:p>
            <a:pPr>
              <a:spcBef>
                <a:spcPts val="500"/>
              </a:spcBef>
              <a:defRPr sz="950">
                <a:solidFill>
                  <a:srgbClr val="1E293B"/>
                </a:solidFill>
              </a:defRPr>
            </a:pPr>
            <a:r>
              <a:t>• Test Windows: 19,530 Windows</a:t>
            </a:r>
          </a:p>
          <a:p>
            <a:pPr>
              <a:spcBef>
                <a:spcPts val="500"/>
              </a:spcBef>
              <a:defRPr sz="950">
                <a:solidFill>
                  <a:srgbClr val="1E293B"/>
                </a:solidFill>
              </a:defRPr>
            </a:pPr>
            <a:r>
              <a:t>• Unique Patients: 1,219 Patients</a:t>
            </a:r>
          </a:p>
          <a:p>
            <a:pPr>
              <a:spcBef>
                <a:spcPts val="500"/>
              </a:spcBef>
              <a:defRPr sz="950">
                <a:solidFill>
                  <a:srgbClr val="1E293B"/>
                </a:solidFill>
              </a:defRPr>
            </a:pPr>
            <a:r>
              <a:t>• Sepsis Prevalence: 2.89% Sepsis Rate</a:t>
            </a:r>
          </a:p>
          <a:p>
            <a:pPr>
              <a:spcBef>
                <a:spcPts val="500"/>
              </a:spcBef>
              <a:defRPr sz="950">
                <a:solidFill>
                  <a:srgbClr val="1E293B"/>
                </a:solidFill>
              </a:defRPr>
            </a:pPr>
            <a:r>
              <a:t>• Clinical Profile: Younger, lower acuity trauma &amp; general medicine cohort with lower baseline comorbidity.</a:t>
            </a:r>
          </a:p>
        </p:txBody>
      </p:sp>
      <p:sp>
        <p:nvSpPr>
          <p:cNvPr id="6" name="Rounded Rectangle 5"/>
          <p:cNvSpPr/>
          <p:nvPr/>
        </p:nvSpPr>
        <p:spPr>
          <a:xfrm>
            <a:off x="4389120" y="1371600"/>
            <a:ext cx="338328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554480"/>
            <a:ext cx="3017520" cy="4480560"/>
          </a:xfrm>
          <a:prstGeom prst="rect">
            <a:avLst/>
          </a:prstGeom>
          <a:noFill/>
        </p:spPr>
        <p:txBody>
          <a:bodyPr wrap="square">
            <a:spAutoFit/>
          </a:bodyPr>
          <a:lstStyle/>
          <a:p>
            <a:pPr>
              <a:defRPr sz="1400" b="1">
                <a:solidFill>
                  <a:srgbClr val="A4123F"/>
                </a:solidFill>
              </a:defRPr>
            </a:pPr>
            <a:r>
              <a:t>Hospital Node 1</a:t>
            </a:r>
          </a:p>
          <a:p>
            <a:pPr>
              <a:spcBef>
                <a:spcPts val="300"/>
              </a:spcBef>
              <a:defRPr sz="1100" b="1">
                <a:solidFill>
                  <a:srgbClr val="0F172A"/>
                </a:solidFill>
              </a:defRPr>
            </a:pPr>
            <a:r>
              <a:t>Geriatric Critical Care</a:t>
            </a:r>
          </a:p>
          <a:p>
            <a:pPr>
              <a:spcBef>
                <a:spcPts val="500"/>
              </a:spcBef>
              <a:defRPr sz="950">
                <a:solidFill>
                  <a:srgbClr val="1E293B"/>
                </a:solidFill>
              </a:defRPr>
            </a:pPr>
            <a:r>
              <a:t>• Registry Split: Hospital Site 1 (BIDMC), Age &gt;= 60</a:t>
            </a:r>
          </a:p>
          <a:p>
            <a:pPr>
              <a:spcBef>
                <a:spcPts val="500"/>
              </a:spcBef>
              <a:defRPr sz="950">
                <a:solidFill>
                  <a:srgbClr val="1E293B"/>
                </a:solidFill>
              </a:defRPr>
            </a:pPr>
            <a:r>
              <a:t>• Test Windows: 32,667 Windows</a:t>
            </a:r>
          </a:p>
          <a:p>
            <a:pPr>
              <a:spcBef>
                <a:spcPts val="500"/>
              </a:spcBef>
              <a:defRPr sz="950">
                <a:solidFill>
                  <a:srgbClr val="1E293B"/>
                </a:solidFill>
              </a:defRPr>
            </a:pPr>
            <a:r>
              <a:t>• Unique Patients: 1,832 Patients</a:t>
            </a:r>
          </a:p>
          <a:p>
            <a:pPr>
              <a:spcBef>
                <a:spcPts val="500"/>
              </a:spcBef>
              <a:defRPr sz="950">
                <a:solidFill>
                  <a:srgbClr val="1E293B"/>
                </a:solidFill>
              </a:defRPr>
            </a:pPr>
            <a:r>
              <a:t>• Sepsis Prevalence: 3.25% Sepsis Rate</a:t>
            </a:r>
          </a:p>
          <a:p>
            <a:pPr>
              <a:spcBef>
                <a:spcPts val="500"/>
              </a:spcBef>
              <a:defRPr sz="950">
                <a:solidFill>
                  <a:srgbClr val="1E293B"/>
                </a:solidFill>
              </a:defRPr>
            </a:pPr>
            <a:r>
              <a:t>• Clinical Profile: High comorbidity, multiple organ dysfunction syndrome, and elevated sepsis risk.</a:t>
            </a:r>
          </a:p>
        </p:txBody>
      </p:sp>
      <p:sp>
        <p:nvSpPr>
          <p:cNvPr id="8" name="Rounded Rectangle 7"/>
          <p:cNvSpPr/>
          <p:nvPr/>
        </p:nvSpPr>
        <p:spPr>
          <a:xfrm>
            <a:off x="8046720" y="1371600"/>
            <a:ext cx="338328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554480"/>
            <a:ext cx="3017520" cy="4480560"/>
          </a:xfrm>
          <a:prstGeom prst="rect">
            <a:avLst/>
          </a:prstGeom>
          <a:noFill/>
        </p:spPr>
        <p:txBody>
          <a:bodyPr wrap="square">
            <a:spAutoFit/>
          </a:bodyPr>
          <a:lstStyle/>
          <a:p>
            <a:pPr>
              <a:defRPr sz="1400" b="1">
                <a:solidFill>
                  <a:srgbClr val="A4123F"/>
                </a:solidFill>
              </a:defRPr>
            </a:pPr>
            <a:r>
              <a:t>Hospital Node 2</a:t>
            </a:r>
          </a:p>
          <a:p>
            <a:pPr>
              <a:spcBef>
                <a:spcPts val="300"/>
              </a:spcBef>
              <a:defRPr sz="1100" b="1">
                <a:solidFill>
                  <a:srgbClr val="0F172A"/>
                </a:solidFill>
              </a:defRPr>
            </a:pPr>
            <a:r>
              <a:t>Tertiary Academic Referral</a:t>
            </a:r>
          </a:p>
          <a:p>
            <a:pPr>
              <a:spcBef>
                <a:spcPts val="500"/>
              </a:spcBef>
              <a:defRPr sz="950">
                <a:solidFill>
                  <a:srgbClr val="1E293B"/>
                </a:solidFill>
              </a:defRPr>
            </a:pPr>
            <a:r>
              <a:t>• Registry Split: Hospital Site 2 (Emory), Mixed Ages</a:t>
            </a:r>
          </a:p>
          <a:p>
            <a:pPr>
              <a:spcBef>
                <a:spcPts val="500"/>
              </a:spcBef>
              <a:defRPr sz="950">
                <a:solidFill>
                  <a:srgbClr val="1E293B"/>
                </a:solidFill>
              </a:defRPr>
            </a:pPr>
            <a:r>
              <a:t>• Test Windows: 50,797 Windows</a:t>
            </a:r>
          </a:p>
          <a:p>
            <a:pPr>
              <a:spcBef>
                <a:spcPts val="500"/>
              </a:spcBef>
              <a:defRPr sz="950">
                <a:solidFill>
                  <a:srgbClr val="1E293B"/>
                </a:solidFill>
              </a:defRPr>
            </a:pPr>
            <a:r>
              <a:t>• Unique Patients: 2,999 Patients</a:t>
            </a:r>
          </a:p>
          <a:p>
            <a:pPr>
              <a:spcBef>
                <a:spcPts val="500"/>
              </a:spcBef>
              <a:defRPr sz="950">
                <a:solidFill>
                  <a:srgbClr val="1E293B"/>
                </a:solidFill>
              </a:defRPr>
            </a:pPr>
            <a:r>
              <a:t>• Sepsis Prevalence: 2.03% Sepsis Rate</a:t>
            </a:r>
          </a:p>
          <a:p>
            <a:pPr>
              <a:spcBef>
                <a:spcPts val="500"/>
              </a:spcBef>
              <a:defRPr sz="950">
                <a:solidFill>
                  <a:srgbClr val="1E293B"/>
                </a:solidFill>
              </a:defRPr>
            </a:pPr>
            <a:r>
              <a:t>• Clinical Profile: Geographically separated regional referral center with distinct laboratory protocols.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A4123F"/>
                </a:solidFill>
              </a:defRPr>
            </a:pPr>
            <a:r>
              <a:t>COHORT ENGINEERING</a:t>
            </a:r>
          </a:p>
        </p:txBody>
      </p:sp>
      <p:sp>
        <p:nvSpPr>
          <p:cNvPr id="3" name="TextBox 2"/>
          <p:cNvSpPr txBox="1"/>
          <p:nvPr/>
        </p:nvSpPr>
        <p:spPr>
          <a:xfrm>
            <a:off x="731520" y="640080"/>
            <a:ext cx="10698480" cy="548640"/>
          </a:xfrm>
          <a:prstGeom prst="rect">
            <a:avLst/>
          </a:prstGeom>
          <a:noFill/>
        </p:spPr>
        <p:txBody>
          <a:bodyPr wrap="square" lIns="0" tIns="0" rIns="0" bIns="0">
            <a:spAutoFit/>
          </a:bodyPr>
          <a:lstStyle/>
          <a:p>
            <a:pPr>
              <a:defRPr sz="2200" b="1">
                <a:solidFill>
                  <a:srgbClr val="0F172A"/>
                </a:solidFill>
              </a:defRPr>
            </a:pPr>
            <a:r>
              <a:t>Dataset Provenance &amp; Causal Leakage Prevention</a:t>
            </a:r>
          </a:p>
        </p:txBody>
      </p:sp>
      <p:sp>
        <p:nvSpPr>
          <p:cNvPr id="4" name="Rounded Rectangle 3"/>
          <p:cNvSpPr/>
          <p:nvPr/>
        </p:nvSpPr>
        <p:spPr>
          <a:xfrm>
            <a:off x="731520" y="1371600"/>
            <a:ext cx="246888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508760"/>
            <a:ext cx="2194560" cy="1188720"/>
          </a:xfrm>
          <a:prstGeom prst="rect">
            <a:avLst/>
          </a:prstGeom>
          <a:noFill/>
        </p:spPr>
        <p:txBody>
          <a:bodyPr wrap="square">
            <a:spAutoFit/>
          </a:bodyPr>
          <a:lstStyle/>
          <a:p>
            <a:pPr>
              <a:defRPr sz="2200" b="1">
                <a:solidFill>
                  <a:srgbClr val="A4123F"/>
                </a:solidFill>
              </a:defRPr>
            </a:pPr>
            <a:r>
              <a:t>40,327</a:t>
            </a:r>
          </a:p>
          <a:p>
            <a:pPr>
              <a:defRPr sz="1100" b="1">
                <a:solidFill>
                  <a:srgbClr val="0F172A"/>
                </a:solidFill>
              </a:defRPr>
            </a:pPr>
            <a:r>
              <a:t>Total ICU Admissions</a:t>
            </a:r>
          </a:p>
          <a:p>
            <a:pPr>
              <a:defRPr sz="900">
                <a:solidFill>
                  <a:srgbClr val="64748B"/>
                </a:solidFill>
              </a:defRPr>
            </a:pPr>
            <a:r>
              <a:t>PhysioNet CinC 2019 Cohort</a:t>
            </a:r>
          </a:p>
        </p:txBody>
      </p:sp>
      <p:sp>
        <p:nvSpPr>
          <p:cNvPr id="6" name="Rounded Rectangle 5"/>
          <p:cNvSpPr/>
          <p:nvPr/>
        </p:nvSpPr>
        <p:spPr>
          <a:xfrm>
            <a:off x="3474720" y="1371600"/>
            <a:ext cx="246888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11880" y="1508760"/>
            <a:ext cx="2194560" cy="1188720"/>
          </a:xfrm>
          <a:prstGeom prst="rect">
            <a:avLst/>
          </a:prstGeom>
          <a:noFill/>
        </p:spPr>
        <p:txBody>
          <a:bodyPr wrap="square">
            <a:spAutoFit/>
          </a:bodyPr>
          <a:lstStyle/>
          <a:p>
            <a:pPr>
              <a:defRPr sz="2200" b="1">
                <a:solidFill>
                  <a:srgbClr val="A4123F"/>
                </a:solidFill>
              </a:defRPr>
            </a:pPr>
            <a:r>
              <a:t>1,551,697</a:t>
            </a:r>
          </a:p>
          <a:p>
            <a:pPr>
              <a:defRPr sz="1100" b="1">
                <a:solidFill>
                  <a:srgbClr val="0F172A"/>
                </a:solidFill>
              </a:defRPr>
            </a:pPr>
            <a:r>
              <a:t>Hourly Observations</a:t>
            </a:r>
          </a:p>
          <a:p>
            <a:pPr>
              <a:defRPr sz="900">
                <a:solidFill>
                  <a:srgbClr val="64748B"/>
                </a:solidFill>
              </a:defRPr>
            </a:pPr>
            <a:r>
              <a:t>Continuous ICU Telemetry</a:t>
            </a:r>
          </a:p>
        </p:txBody>
      </p:sp>
      <p:sp>
        <p:nvSpPr>
          <p:cNvPr id="8" name="Rounded Rectangle 7"/>
          <p:cNvSpPr/>
          <p:nvPr/>
        </p:nvSpPr>
        <p:spPr>
          <a:xfrm>
            <a:off x="6217920" y="1371600"/>
            <a:ext cx="246888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508760"/>
            <a:ext cx="2194560" cy="1188720"/>
          </a:xfrm>
          <a:prstGeom prst="rect">
            <a:avLst/>
          </a:prstGeom>
          <a:noFill/>
        </p:spPr>
        <p:txBody>
          <a:bodyPr wrap="square">
            <a:spAutoFit/>
          </a:bodyPr>
          <a:lstStyle/>
          <a:p>
            <a:pPr>
              <a:defRPr sz="2200" b="1">
                <a:solidFill>
                  <a:srgbClr val="A4123F"/>
                </a:solidFill>
              </a:defRPr>
            </a:pPr>
            <a:r>
              <a:t>684,701</a:t>
            </a:r>
          </a:p>
          <a:p>
            <a:pPr>
              <a:defRPr sz="1100" b="1">
                <a:solidFill>
                  <a:srgbClr val="0F172A"/>
                </a:solidFill>
              </a:defRPr>
            </a:pPr>
            <a:r>
              <a:t>24-Hour Windows</a:t>
            </a:r>
          </a:p>
          <a:p>
            <a:pPr>
              <a:defRPr sz="900">
                <a:solidFill>
                  <a:srgbClr val="64748B"/>
                </a:solidFill>
              </a:defRPr>
            </a:pPr>
            <a:r>
              <a:t>102,994 in Held-Out Test Set</a:t>
            </a:r>
          </a:p>
        </p:txBody>
      </p:sp>
      <p:sp>
        <p:nvSpPr>
          <p:cNvPr id="10" name="Rounded Rectangle 9"/>
          <p:cNvSpPr/>
          <p:nvPr/>
        </p:nvSpPr>
        <p:spPr>
          <a:xfrm>
            <a:off x="8961120" y="1371600"/>
            <a:ext cx="246888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98280" y="1508760"/>
            <a:ext cx="2194560" cy="1188720"/>
          </a:xfrm>
          <a:prstGeom prst="rect">
            <a:avLst/>
          </a:prstGeom>
          <a:noFill/>
        </p:spPr>
        <p:txBody>
          <a:bodyPr wrap="square">
            <a:spAutoFit/>
          </a:bodyPr>
          <a:lstStyle/>
          <a:p>
            <a:pPr>
              <a:defRPr sz="2200" b="1">
                <a:solidFill>
                  <a:srgbClr val="A4123F"/>
                </a:solidFill>
              </a:defRPr>
            </a:pPr>
            <a:r>
              <a:t>6,050</a:t>
            </a:r>
          </a:p>
          <a:p>
            <a:pPr>
              <a:defRPr sz="1100" b="1">
                <a:solidFill>
                  <a:srgbClr val="0F172A"/>
                </a:solidFill>
              </a:defRPr>
            </a:pPr>
            <a:r>
              <a:t>Disjoint Test Patients</a:t>
            </a:r>
          </a:p>
          <a:p>
            <a:pPr>
              <a:defRPr sz="900">
                <a:solidFill>
                  <a:srgbClr val="64748B"/>
                </a:solidFill>
              </a:defRPr>
            </a:pPr>
            <a:r>
              <a:t>Zero Patient Leakage Across Splits</a:t>
            </a:r>
          </a:p>
        </p:txBody>
      </p:sp>
      <p:sp>
        <p:nvSpPr>
          <p:cNvPr id="12" name="Rounded Rectangle 11"/>
          <p:cNvSpPr/>
          <p:nvPr/>
        </p:nvSpPr>
        <p:spPr>
          <a:xfrm>
            <a:off x="731520" y="3108960"/>
            <a:ext cx="10698480" cy="31089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291840"/>
            <a:ext cx="10332720" cy="2743200"/>
          </a:xfrm>
          <a:prstGeom prst="rect">
            <a:avLst/>
          </a:prstGeom>
          <a:noFill/>
        </p:spPr>
        <p:txBody>
          <a:bodyPr wrap="square">
            <a:spAutoFit/>
          </a:bodyPr>
          <a:lstStyle/>
          <a:p>
            <a:pPr>
              <a:defRPr sz="1400" b="1">
                <a:solidFill>
                  <a:srgbClr val="A4123F"/>
                </a:solidFill>
              </a:defRPr>
            </a:pPr>
            <a:r>
              <a:t>Strict Scientific Guarantees Against Data Leakage &amp; Temporal Contamination</a:t>
            </a:r>
          </a:p>
          <a:p>
            <a:pPr>
              <a:spcBef>
                <a:spcPts val="500"/>
              </a:spcBef>
              <a:defRPr sz="1050">
                <a:solidFill>
                  <a:srgbClr val="1E293B"/>
                </a:solidFill>
              </a:defRPr>
            </a:pPr>
            <a:r>
              <a:t>• Patient-Level Partitioning: Train (70%), validation (15%), and test (15%) splits were partitioned strictly by unique patient identifiers. No patient encounter crosses partition boundaries, preventing memorization leakage.</a:t>
            </a:r>
          </a:p>
          <a:p>
            <a:pPr>
              <a:spcBef>
                <a:spcPts val="500"/>
              </a:spcBef>
              <a:defRPr sz="1050">
                <a:solidFill>
                  <a:srgbClr val="1E293B"/>
                </a:solidFill>
              </a:defRPr>
            </a:pPr>
            <a:r>
              <a:t>• Strictly Causal Forward-Fill Imputation: Missing lab tests and vitals are imputed exclusively forward in time (ffill). Initial unobserved intervals are imputed using the training cohort population median. Backward filling (bfill) was completely excised.</a:t>
            </a:r>
          </a:p>
          <a:p>
            <a:pPr>
              <a:spcBef>
                <a:spcPts val="500"/>
              </a:spcBef>
              <a:defRPr sz="1050">
                <a:solidFill>
                  <a:srgbClr val="1E293B"/>
                </a:solidFill>
              </a:defRPr>
            </a:pPr>
            <a:r>
              <a:t>• Zero Statistics Leakage: Feature scaling (StandardScaler) parameters were fitted exclusively on the training split and deterministically applied to validation and test splits.</a:t>
            </a:r>
          </a:p>
          <a:p>
            <a:pPr>
              <a:spcBef>
                <a:spcPts val="500"/>
              </a:spcBef>
              <a:defRPr sz="1050">
                <a:solidFill>
                  <a:srgbClr val="1E293B"/>
                </a:solidFill>
              </a:defRPr>
            </a:pPr>
            <a:r>
              <a:t>• Clinical Warning Horizon: Positive labels (SepsisLabel = 1) begin 6 hours prior to clinical onset (t_sepsis - 6), enabling prospective early surveillance.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A4123F"/>
                </a:solidFill>
              </a:defRPr>
            </a:pPr>
            <a:r>
              <a:t>BENCHMARKING RIGOR</a:t>
            </a:r>
          </a:p>
        </p:txBody>
      </p:sp>
      <p:sp>
        <p:nvSpPr>
          <p:cNvPr id="3" name="TextBox 2"/>
          <p:cNvSpPr txBox="1"/>
          <p:nvPr/>
        </p:nvSpPr>
        <p:spPr>
          <a:xfrm>
            <a:off x="731520" y="640080"/>
            <a:ext cx="10698480" cy="548640"/>
          </a:xfrm>
          <a:prstGeom prst="rect">
            <a:avLst/>
          </a:prstGeom>
          <a:noFill/>
        </p:spPr>
        <p:txBody>
          <a:bodyPr wrap="square" lIns="0" tIns="0" rIns="0" bIns="0">
            <a:spAutoFit/>
          </a:bodyPr>
          <a:lstStyle/>
          <a:p>
            <a:pPr>
              <a:defRPr sz="2200" b="1">
                <a:solidFill>
                  <a:srgbClr val="0F172A"/>
                </a:solidFill>
              </a:defRPr>
            </a:pPr>
            <a:r>
              <a:t>Multi-Panel Fair Evaluation &amp; Clustered Bootstrap Protocol</a:t>
            </a:r>
          </a:p>
        </p:txBody>
      </p:sp>
      <p:sp>
        <p:nvSpPr>
          <p:cNvPr id="4" name="Rounded Rectangle 3"/>
          <p:cNvSpPr/>
          <p:nvPr/>
        </p:nvSpPr>
        <p:spPr>
          <a:xfrm>
            <a:off x="731520" y="1371600"/>
            <a:ext cx="5212080" cy="4846320"/>
          </a:xfrm>
          <a:prstGeom prst="roundRect">
            <a:avLst/>
          </a:prstGeom>
          <a:solidFill>
            <a:srgbClr val="FFFFFF"/>
          </a:solidFill>
          <a:ln w="12700">
            <a:solidFill>
              <a:srgbClr val="A41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4846320" cy="4480560"/>
          </a:xfrm>
          <a:prstGeom prst="rect">
            <a:avLst/>
          </a:prstGeom>
          <a:noFill/>
        </p:spPr>
        <p:txBody>
          <a:bodyPr wrap="square">
            <a:spAutoFit/>
          </a:bodyPr>
          <a:lstStyle/>
          <a:p>
            <a:pPr>
              <a:defRPr sz="1300" b="1">
                <a:solidFill>
                  <a:srgbClr val="A4123F"/>
                </a:solidFill>
              </a:defRPr>
            </a:pPr>
            <a:r>
              <a:t>Panel A: Client-Stratified Benchmark (N=15,000)</a:t>
            </a:r>
          </a:p>
          <a:p>
            <a:pPr>
              <a:spcBef>
                <a:spcPts val="500"/>
              </a:spcBef>
              <a:defRPr sz="1000">
                <a:solidFill>
                  <a:srgbClr val="1E293B"/>
                </a:solidFill>
              </a:defRPr>
            </a:pPr>
            <a:r>
              <a:t>• Sampling Scheme: 5,000 held-out windows per hospital node (Client 0, Client 1, Client 2).</a:t>
            </a:r>
          </a:p>
          <a:p>
            <a:pPr>
              <a:spcBef>
                <a:spcPts val="500"/>
              </a:spcBef>
              <a:defRPr sz="1000">
                <a:solidFill>
                  <a:srgbClr val="1E293B"/>
                </a:solidFill>
              </a:defRPr>
            </a:pPr>
            <a:r>
              <a:t>• Sample Profile: 408 positive windows, 14,592 negative windows (prevalence 2.72%), M=4,127 unique patients.</a:t>
            </a:r>
          </a:p>
          <a:p>
            <a:pPr>
              <a:spcBef>
                <a:spcPts val="500"/>
              </a:spcBef>
              <a:defRPr sz="1000">
                <a:solidFill>
                  <a:srgbClr val="1E293B"/>
                </a:solidFill>
              </a:defRPr>
            </a:pPr>
            <a:r>
              <a:t>• Evaluated Edge Models: Local-Only, Ditto PFL, FPDAF-v1, and FPDAF-v2 (Proposed Full).</a:t>
            </a:r>
          </a:p>
          <a:p>
            <a:pPr>
              <a:spcBef>
                <a:spcPts val="500"/>
              </a:spcBef>
              <a:defRPr sz="1000">
                <a:solidFill>
                  <a:srgbClr val="1E293B"/>
                </a:solidFill>
              </a:defRPr>
            </a:pPr>
            <a:r>
              <a:t>• Matched Clustered Resampling: All models evaluated on identical windows, labels, and patient clusters.</a:t>
            </a:r>
          </a:p>
          <a:p>
            <a:pPr>
              <a:spcBef>
                <a:spcPts val="500"/>
              </a:spcBef>
              <a:defRPr sz="1000">
                <a:solidFill>
                  <a:srgbClr val="1E293B"/>
                </a:solidFill>
              </a:defRPr>
            </a:pPr>
            <a:r>
              <a:t>• Key Finding: FPDAF-v2 achieves comparable discrimination to Ditto (AUROC 0.7821 vs 0.7796, Delta = +0.0025, P = .770) alongside superior calibration (ECE 0.0961 vs 0.0982; Brier 0.0585 vs 0.0613).</a:t>
            </a:r>
          </a:p>
        </p:txBody>
      </p:sp>
      <p:sp>
        <p:nvSpPr>
          <p:cNvPr id="6" name="Rounded Rectangle 5"/>
          <p:cNvSpPr/>
          <p:nvPr/>
        </p:nvSpPr>
        <p:spPr>
          <a:xfrm>
            <a:off x="6217920" y="1371600"/>
            <a:ext cx="5212080" cy="4846320"/>
          </a:xfrm>
          <a:prstGeom prst="roundRect">
            <a:avLst/>
          </a:prstGeom>
          <a:solidFill>
            <a:srgbClr val="FFFFFF"/>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54480"/>
            <a:ext cx="4846320" cy="4480560"/>
          </a:xfrm>
          <a:prstGeom prst="rect">
            <a:avLst/>
          </a:prstGeom>
          <a:noFill/>
        </p:spPr>
        <p:txBody>
          <a:bodyPr wrap="square">
            <a:spAutoFit/>
          </a:bodyPr>
          <a:lstStyle/>
          <a:p>
            <a:pPr>
              <a:defRPr sz="1300" b="1">
                <a:solidFill>
                  <a:srgbClr val="0F172A"/>
                </a:solidFill>
              </a:defRPr>
            </a:pPr>
            <a:r>
              <a:t>Panel B: Global Uniform Pooled Benchmark (N=15,000)</a:t>
            </a:r>
          </a:p>
          <a:p>
            <a:pPr>
              <a:spcBef>
                <a:spcPts val="500"/>
              </a:spcBef>
              <a:defRPr sz="1000">
                <a:solidFill>
                  <a:srgbClr val="1E293B"/>
                </a:solidFill>
              </a:defRPr>
            </a:pPr>
            <a:r>
              <a:t>• Sampling Scheme: Uniform random sampling across the pooled multi-center test partition.</a:t>
            </a:r>
          </a:p>
          <a:p>
            <a:pPr>
              <a:spcBef>
                <a:spcPts val="500"/>
              </a:spcBef>
              <a:defRPr sz="1000">
                <a:solidFill>
                  <a:srgbClr val="1E293B"/>
                </a:solidFill>
              </a:defRPr>
            </a:pPr>
            <a:r>
              <a:t>• Sample Profile: 387 positive windows, 14,613 negative windows (prevalence 2.58%), M=4,207 unique patients.</a:t>
            </a:r>
          </a:p>
          <a:p>
            <a:pPr>
              <a:spcBef>
                <a:spcPts val="500"/>
              </a:spcBef>
              <a:defRPr sz="1000">
                <a:solidFill>
                  <a:srgbClr val="1E293B"/>
                </a:solidFill>
              </a:defRPr>
            </a:pPr>
            <a:r>
              <a:t>• Evaluated Consensus Models: Centralized BiLSTM, FedAvg Baseline, and FedProx Baseline.</a:t>
            </a:r>
          </a:p>
          <a:p>
            <a:pPr>
              <a:spcBef>
                <a:spcPts val="500"/>
              </a:spcBef>
              <a:defRPr sz="1000">
                <a:solidFill>
                  <a:srgbClr val="1E293B"/>
                </a:solidFill>
              </a:defRPr>
            </a:pPr>
            <a:r>
              <a:t>• Matched Clustered Resampling: All global models evaluated on identical windows, labels, and patient clusters.</a:t>
            </a:r>
          </a:p>
          <a:p>
            <a:pPr>
              <a:spcBef>
                <a:spcPts val="500"/>
              </a:spcBef>
              <a:defRPr sz="1000">
                <a:solidFill>
                  <a:srgbClr val="1E293B"/>
                </a:solidFill>
              </a:defRPr>
            </a:pPr>
            <a:r>
              <a:t>• Disclosed Boundary: Comparing metrics directly between Panel A and Panel B is scientifically invalid due to differing empirical hospital weights (5k/client vs uniform). Cross-panel comparisons are strictly separated.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A4123F"/>
                </a:solidFill>
              </a:defRPr>
            </a:pPr>
            <a:r>
              <a:t>COMPARATIVE STANDARDS</a:t>
            </a:r>
          </a:p>
        </p:txBody>
      </p:sp>
      <p:sp>
        <p:nvSpPr>
          <p:cNvPr id="3" name="TextBox 2"/>
          <p:cNvSpPr txBox="1"/>
          <p:nvPr/>
        </p:nvSpPr>
        <p:spPr>
          <a:xfrm>
            <a:off x="731520" y="640080"/>
            <a:ext cx="10698480" cy="548640"/>
          </a:xfrm>
          <a:prstGeom prst="rect">
            <a:avLst/>
          </a:prstGeom>
          <a:noFill/>
        </p:spPr>
        <p:txBody>
          <a:bodyPr wrap="square" lIns="0" tIns="0" rIns="0" bIns="0">
            <a:spAutoFit/>
          </a:bodyPr>
          <a:lstStyle/>
          <a:p>
            <a:pPr>
              <a:defRPr sz="2200" b="1">
                <a:solidFill>
                  <a:srgbClr val="0F172A"/>
                </a:solidFill>
              </a:defRPr>
            </a:pPr>
            <a:r>
              <a:t>Baseline Architectures &amp; Matched Hypothesis Testing</a:t>
            </a:r>
          </a:p>
        </p:txBody>
      </p:sp>
      <p:sp>
        <p:nvSpPr>
          <p:cNvPr id="4" name="Rounded Rectangle 3"/>
          <p:cNvSpPr/>
          <p:nvPr/>
        </p:nvSpPr>
        <p:spPr>
          <a:xfrm>
            <a:off x="731520" y="1371600"/>
            <a:ext cx="10698480" cy="868680"/>
          </a:xfrm>
          <a:prstGeom prst="roundRect">
            <a:avLst/>
          </a:prstGeom>
          <a:solidFill>
            <a:srgbClr val="FFFFFF"/>
          </a:solidFill>
          <a:ln w="12700">
            <a:solidFill>
              <a:srgbClr val="A41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44752"/>
            <a:ext cx="10332720" cy="731520"/>
          </a:xfrm>
          <a:prstGeom prst="rect">
            <a:avLst/>
          </a:prstGeom>
          <a:noFill/>
        </p:spPr>
        <p:txBody>
          <a:bodyPr wrap="square">
            <a:spAutoFit/>
          </a:bodyPr>
          <a:lstStyle/>
          <a:p>
            <a:pPr>
              <a:defRPr sz="1200" b="1">
                <a:solidFill>
                  <a:srgbClr val="A4123F"/>
                </a:solidFill>
              </a:defRPr>
            </a:pPr>
            <a:r>
              <a:t>Centralized BiLSTM — Upper Benchmark (No Privacy)</a:t>
            </a:r>
          </a:p>
          <a:p>
            <a:pPr>
              <a:spcBef>
                <a:spcPts val="200"/>
              </a:spcBef>
              <a:defRPr sz="950">
                <a:solidFill>
                  <a:srgbClr val="1E293B"/>
                </a:solidFill>
              </a:defRPr>
            </a:pPr>
            <a:r>
              <a:t>Pooled multi-center training assuming zero privacy constraints. Serves as the empirical upper performance bound for discrimination.</a:t>
            </a:r>
          </a:p>
        </p:txBody>
      </p:sp>
      <p:sp>
        <p:nvSpPr>
          <p:cNvPr id="6" name="Rounded Rectangle 5"/>
          <p:cNvSpPr/>
          <p:nvPr/>
        </p:nvSpPr>
        <p:spPr>
          <a:xfrm>
            <a:off x="731520" y="2377440"/>
            <a:ext cx="10698480" cy="868680"/>
          </a:xfrm>
          <a:prstGeom prst="roundRect">
            <a:avLst/>
          </a:prstGeom>
          <a:solidFill>
            <a:srgbClr val="FFFFFF"/>
          </a:solidFill>
          <a:ln w="1270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450592"/>
            <a:ext cx="10332720" cy="731520"/>
          </a:xfrm>
          <a:prstGeom prst="rect">
            <a:avLst/>
          </a:prstGeom>
          <a:noFill/>
        </p:spPr>
        <p:txBody>
          <a:bodyPr wrap="square">
            <a:spAutoFit/>
          </a:bodyPr>
          <a:lstStyle/>
          <a:p>
            <a:pPr>
              <a:defRPr sz="1200" b="1">
                <a:solidFill>
                  <a:srgbClr val="64748B"/>
                </a:solidFill>
              </a:defRPr>
            </a:pPr>
            <a:r>
              <a:t>Local-Only Training — Lower Benchmark (No Federation)</a:t>
            </a:r>
          </a:p>
          <a:p>
            <a:pPr>
              <a:spcBef>
                <a:spcPts val="200"/>
              </a:spcBef>
              <a:defRPr sz="950">
                <a:solidFill>
                  <a:srgbClr val="1E293B"/>
                </a:solidFill>
              </a:defRPr>
            </a:pPr>
            <a:r>
              <a:t>Isolated models trained strictly on local hospital data without parameter sharing. Demonstrates vulnerability to small sample sizes.</a:t>
            </a:r>
          </a:p>
        </p:txBody>
      </p:sp>
      <p:sp>
        <p:nvSpPr>
          <p:cNvPr id="8" name="Rounded Rectangle 7"/>
          <p:cNvSpPr/>
          <p:nvPr/>
        </p:nvSpPr>
        <p:spPr>
          <a:xfrm>
            <a:off x="731520" y="3383280"/>
            <a:ext cx="10698480" cy="868680"/>
          </a:xfrm>
          <a:prstGeom prst="roundRect">
            <a:avLst/>
          </a:prstGeom>
          <a:solidFill>
            <a:srgbClr val="FFFFFF"/>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456432"/>
            <a:ext cx="10332720" cy="731520"/>
          </a:xfrm>
          <a:prstGeom prst="rect">
            <a:avLst/>
          </a:prstGeom>
          <a:noFill/>
        </p:spPr>
        <p:txBody>
          <a:bodyPr wrap="square">
            <a:spAutoFit/>
          </a:bodyPr>
          <a:lstStyle/>
          <a:p>
            <a:pPr>
              <a:defRPr sz="1200" b="1">
                <a:solidFill>
                  <a:srgbClr val="0F172A"/>
                </a:solidFill>
              </a:defRPr>
            </a:pPr>
            <a:r>
              <a:t>FedAvg (McMahan 2017) — Canonical Federated Consensus</a:t>
            </a:r>
          </a:p>
          <a:p>
            <a:pPr>
              <a:spcBef>
                <a:spcPts val="200"/>
              </a:spcBef>
              <a:defRPr sz="950">
                <a:solidFill>
                  <a:srgbClr val="1E293B"/>
                </a:solidFill>
              </a:defRPr>
            </a:pPr>
            <a:r>
              <a:t>Synchronous global federated averaging. Suffers from severe client drift and poor local personalization under non-IID demographics.</a:t>
            </a:r>
          </a:p>
        </p:txBody>
      </p:sp>
      <p:sp>
        <p:nvSpPr>
          <p:cNvPr id="10" name="Rounded Rectangle 9"/>
          <p:cNvSpPr/>
          <p:nvPr/>
        </p:nvSpPr>
        <p:spPr>
          <a:xfrm>
            <a:off x="731520" y="4389120"/>
            <a:ext cx="10698480" cy="868680"/>
          </a:xfrm>
          <a:prstGeom prst="roundRect">
            <a:avLst/>
          </a:prstGeom>
          <a:solidFill>
            <a:srgbClr val="FFFFFF"/>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462272"/>
            <a:ext cx="10332720" cy="731520"/>
          </a:xfrm>
          <a:prstGeom prst="rect">
            <a:avLst/>
          </a:prstGeom>
          <a:noFill/>
        </p:spPr>
        <p:txBody>
          <a:bodyPr wrap="square">
            <a:spAutoFit/>
          </a:bodyPr>
          <a:lstStyle/>
          <a:p>
            <a:pPr>
              <a:defRPr sz="1200" b="1">
                <a:solidFill>
                  <a:srgbClr val="0F766E"/>
                </a:solidFill>
              </a:defRPr>
            </a:pPr>
            <a:r>
              <a:t>FedProx (Li et al. 2020) — Proximal Regularization</a:t>
            </a:r>
          </a:p>
          <a:p>
            <a:pPr>
              <a:spcBef>
                <a:spcPts val="200"/>
              </a:spcBef>
              <a:defRPr sz="950">
                <a:solidFill>
                  <a:srgbClr val="1E293B"/>
                </a:solidFill>
              </a:defRPr>
            </a:pPr>
            <a:r>
              <a:t>Adds proximal regularization term (mu=0.01) to penalize local divergence from global consensus, stabilizing heterogeneous aggregation.</a:t>
            </a:r>
          </a:p>
        </p:txBody>
      </p:sp>
      <p:sp>
        <p:nvSpPr>
          <p:cNvPr id="12" name="Rounded Rectangle 11"/>
          <p:cNvSpPr/>
          <p:nvPr/>
        </p:nvSpPr>
        <p:spPr>
          <a:xfrm>
            <a:off x="731520" y="5394960"/>
            <a:ext cx="10698480" cy="868680"/>
          </a:xfrm>
          <a:prstGeom prst="roundRect">
            <a:avLst/>
          </a:prstGeom>
          <a:solidFill>
            <a:srgbClr val="FFFFFF"/>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468112"/>
            <a:ext cx="10332720" cy="731520"/>
          </a:xfrm>
          <a:prstGeom prst="rect">
            <a:avLst/>
          </a:prstGeom>
          <a:noFill/>
        </p:spPr>
        <p:txBody>
          <a:bodyPr wrap="square">
            <a:spAutoFit/>
          </a:bodyPr>
          <a:lstStyle/>
          <a:p>
            <a:pPr>
              <a:defRPr sz="1200" b="1">
                <a:solidFill>
                  <a:srgbClr val="D97706"/>
                </a:solidFill>
              </a:defRPr>
            </a:pPr>
            <a:r>
              <a:t>Ditto PFL (Li et al. 2021) — Bi-Level Personalized FL</a:t>
            </a:r>
          </a:p>
          <a:p>
            <a:pPr>
              <a:spcBef>
                <a:spcPts val="200"/>
              </a:spcBef>
              <a:defRPr sz="950">
                <a:solidFill>
                  <a:srgbClr val="1E293B"/>
                </a:solidFill>
              </a:defRPr>
            </a:pPr>
            <a:r>
              <a:t>State-of-the-art personalized federated learning with bi-level optimization (lambda=0.1) balancing local personalization with global consensus.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A4123F"/>
                </a:solidFill>
              </a:defRPr>
            </a:pPr>
            <a:r>
              <a:t>VERIFIED BENCHMARKS</a:t>
            </a:r>
          </a:p>
        </p:txBody>
      </p:sp>
      <p:sp>
        <p:nvSpPr>
          <p:cNvPr id="3" name="TextBox 2"/>
          <p:cNvSpPr txBox="1"/>
          <p:nvPr/>
        </p:nvSpPr>
        <p:spPr>
          <a:xfrm>
            <a:off x="731520" y="640080"/>
            <a:ext cx="10698480" cy="548640"/>
          </a:xfrm>
          <a:prstGeom prst="rect">
            <a:avLst/>
          </a:prstGeom>
          <a:noFill/>
        </p:spPr>
        <p:txBody>
          <a:bodyPr wrap="square" lIns="0" tIns="0" rIns="0" bIns="0">
            <a:spAutoFit/>
          </a:bodyPr>
          <a:lstStyle/>
          <a:p>
            <a:pPr>
              <a:defRPr sz="2200" b="1">
                <a:solidFill>
                  <a:srgbClr val="0F172A"/>
                </a:solidFill>
              </a:defRPr>
            </a:pPr>
            <a:r>
              <a:t>Empirical Performance Results Across 102,994 Windows</a:t>
            </a:r>
          </a:p>
        </p:txBody>
      </p:sp>
      <p:graphicFrame>
        <p:nvGraphicFramePr>
          <p:cNvPr id="4" name="Table 3"/>
          <p:cNvGraphicFramePr>
            <a:graphicFrameLocks noGrp="1"/>
          </p:cNvGraphicFramePr>
          <p:nvPr/>
        </p:nvGraphicFramePr>
        <p:xfrm>
          <a:off x="731520" y="1371600"/>
          <a:ext cx="9784080" cy="2926080"/>
        </p:xfrm>
        <a:graphic>
          <a:graphicData uri="http://schemas.openxmlformats.org/drawingml/2006/table">
            <a:tbl>
              <a:tblPr firstRow="1" bandRow="1">
                <a:tableStyleId>{5C22544A-7EE6-4342-B048-85BDC9FD1C3A}</a:tableStyleId>
              </a:tblPr>
              <a:tblGrid>
                <a:gridCol w="2286000"/>
                <a:gridCol w="1645920"/>
                <a:gridCol w="914400"/>
                <a:gridCol w="914400"/>
                <a:gridCol w="1005840"/>
                <a:gridCol w="1005840"/>
                <a:gridCol w="1005840"/>
                <a:gridCol w="1005840"/>
              </a:tblGrid>
              <a:tr h="487680">
                <a:tc>
                  <a:txBody>
                    <a:bodyPr/>
                    <a:lstStyle/>
                    <a:p>
                      <a:pPr algn="ctr">
                        <a:defRPr sz="1000" b="1">
                          <a:solidFill>
                            <a:srgbClr val="FFFFFF"/>
                          </a:solidFill>
                        </a:defRPr>
                      </a:pPr>
                      <a:r>
                        <a:t>Model Architecture</a:t>
                      </a:r>
                    </a:p>
                  </a:txBody>
                  <a:tcPr>
                    <a:solidFill>
                      <a:srgbClr val="A4123F"/>
                    </a:solidFill>
                  </a:tcPr>
                </a:tc>
                <a:tc>
                  <a:txBody>
                    <a:bodyPr/>
                    <a:lstStyle/>
                    <a:p>
                      <a:pPr algn="ctr">
                        <a:defRPr sz="1000" b="1">
                          <a:solidFill>
                            <a:srgbClr val="FFFFFF"/>
                          </a:solidFill>
                        </a:defRPr>
                      </a:pPr>
                      <a:r>
                        <a:t>AUROC [Cluster 95% CI]</a:t>
                      </a:r>
                    </a:p>
                  </a:txBody>
                  <a:tcPr>
                    <a:solidFill>
                      <a:srgbClr val="A4123F"/>
                    </a:solidFill>
                  </a:tcPr>
                </a:tc>
                <a:tc>
                  <a:txBody>
                    <a:bodyPr/>
                    <a:lstStyle/>
                    <a:p>
                      <a:pPr algn="ctr">
                        <a:defRPr sz="1000" b="1">
                          <a:solidFill>
                            <a:srgbClr val="FFFFFF"/>
                          </a:solidFill>
                        </a:defRPr>
                      </a:pPr>
                      <a:r>
                        <a:t>AUPRC</a:t>
                      </a:r>
                    </a:p>
                  </a:txBody>
                  <a:tcPr>
                    <a:solidFill>
                      <a:srgbClr val="A4123F"/>
                    </a:solidFill>
                  </a:tcPr>
                </a:tc>
                <a:tc>
                  <a:txBody>
                    <a:bodyPr/>
                    <a:lstStyle/>
                    <a:p>
                      <a:pPr algn="ctr">
                        <a:defRPr sz="1000" b="1">
                          <a:solidFill>
                            <a:srgbClr val="FFFFFF"/>
                          </a:solidFill>
                        </a:defRPr>
                      </a:pPr>
                      <a:r>
                        <a:t>Accuracy</a:t>
                      </a:r>
                    </a:p>
                  </a:txBody>
                  <a:tcPr>
                    <a:solidFill>
                      <a:srgbClr val="A4123F"/>
                    </a:solidFill>
                  </a:tcPr>
                </a:tc>
                <a:tc>
                  <a:txBody>
                    <a:bodyPr/>
                    <a:lstStyle/>
                    <a:p>
                      <a:pPr algn="ctr">
                        <a:defRPr sz="1000" b="1">
                          <a:solidFill>
                            <a:srgbClr val="FFFFFF"/>
                          </a:solidFill>
                        </a:defRPr>
                      </a:pPr>
                      <a:r>
                        <a:t>Sensitivity</a:t>
                      </a:r>
                    </a:p>
                  </a:txBody>
                  <a:tcPr>
                    <a:solidFill>
                      <a:srgbClr val="A4123F"/>
                    </a:solidFill>
                  </a:tcPr>
                </a:tc>
                <a:tc>
                  <a:txBody>
                    <a:bodyPr/>
                    <a:lstStyle/>
                    <a:p>
                      <a:pPr algn="ctr">
                        <a:defRPr sz="1000" b="1">
                          <a:solidFill>
                            <a:srgbClr val="FFFFFF"/>
                          </a:solidFill>
                        </a:defRPr>
                      </a:pPr>
                      <a:r>
                        <a:t>Specificity</a:t>
                      </a:r>
                    </a:p>
                  </a:txBody>
                  <a:tcPr>
                    <a:solidFill>
                      <a:srgbClr val="A4123F"/>
                    </a:solidFill>
                  </a:tcPr>
                </a:tc>
                <a:tc>
                  <a:txBody>
                    <a:bodyPr/>
                    <a:lstStyle/>
                    <a:p>
                      <a:pPr algn="ctr">
                        <a:defRPr sz="1000" b="1">
                          <a:solidFill>
                            <a:srgbClr val="FFFFFF"/>
                          </a:solidFill>
                        </a:defRPr>
                      </a:pPr>
                      <a:r>
                        <a:t>ECE</a:t>
                      </a:r>
                    </a:p>
                  </a:txBody>
                  <a:tcPr>
                    <a:solidFill>
                      <a:srgbClr val="A4123F"/>
                    </a:solidFill>
                  </a:tcPr>
                </a:tc>
                <a:tc>
                  <a:txBody>
                    <a:bodyPr/>
                    <a:lstStyle/>
                    <a:p>
                      <a:pPr algn="ctr">
                        <a:defRPr sz="1000" b="1">
                          <a:solidFill>
                            <a:srgbClr val="FFFFFF"/>
                          </a:solidFill>
                        </a:defRPr>
                      </a:pPr>
                      <a:r>
                        <a:t>Brier Score</a:t>
                      </a:r>
                    </a:p>
                  </a:txBody>
                  <a:tcPr>
                    <a:solidFill>
                      <a:srgbClr val="A4123F"/>
                    </a:solidFill>
                  </a:tcPr>
                </a:tc>
              </a:tr>
              <a:tr h="487680">
                <a:tc>
                  <a:txBody>
                    <a:bodyPr/>
                    <a:lstStyle/>
                    <a:p>
                      <a:pPr algn="l">
                        <a:defRPr sz="950"/>
                      </a:pPr>
                      <a:r>
                        <a:t>Centralized BiLSTM</a:t>
                      </a:r>
                    </a:p>
                  </a:txBody>
                  <a:tcPr/>
                </a:tc>
                <a:tc>
                  <a:txBody>
                    <a:bodyPr/>
                    <a:lstStyle/>
                    <a:p>
                      <a:pPr algn="ctr">
                        <a:defRPr sz="950"/>
                      </a:pPr>
                      <a:r>
                        <a:t>0.8058 [0.7830–0.8284]</a:t>
                      </a:r>
                    </a:p>
                  </a:txBody>
                  <a:tcPr/>
                </a:tc>
                <a:tc>
                  <a:txBody>
                    <a:bodyPr/>
                    <a:lstStyle/>
                    <a:p>
                      <a:pPr algn="ctr">
                        <a:defRPr sz="950"/>
                      </a:pPr>
                      <a:r>
                        <a:t>0.1016</a:t>
                      </a:r>
                    </a:p>
                  </a:txBody>
                  <a:tcPr/>
                </a:tc>
                <a:tc>
                  <a:txBody>
                    <a:bodyPr/>
                    <a:lstStyle/>
                    <a:p>
                      <a:pPr algn="ctr">
                        <a:defRPr sz="950"/>
                      </a:pPr>
                      <a:r>
                        <a:t>75.09%</a:t>
                      </a:r>
                    </a:p>
                  </a:txBody>
                  <a:tcPr/>
                </a:tc>
                <a:tc>
                  <a:txBody>
                    <a:bodyPr/>
                    <a:lstStyle/>
                    <a:p>
                      <a:pPr algn="ctr">
                        <a:defRPr sz="950"/>
                      </a:pPr>
                      <a:r>
                        <a:t>72.17%</a:t>
                      </a:r>
                    </a:p>
                  </a:txBody>
                  <a:tcPr/>
                </a:tc>
                <a:tc>
                  <a:txBody>
                    <a:bodyPr/>
                    <a:lstStyle/>
                    <a:p>
                      <a:pPr algn="ctr">
                        <a:defRPr sz="950"/>
                      </a:pPr>
                      <a:r>
                        <a:t>75.17%</a:t>
                      </a:r>
                    </a:p>
                  </a:txBody>
                  <a:tcPr/>
                </a:tc>
                <a:tc>
                  <a:txBody>
                    <a:bodyPr/>
                    <a:lstStyle/>
                    <a:p>
                      <a:pPr algn="ctr">
                        <a:defRPr sz="950"/>
                      </a:pPr>
                      <a:r>
                        <a:t>0.2935</a:t>
                      </a:r>
                    </a:p>
                  </a:txBody>
                  <a:tcPr/>
                </a:tc>
                <a:tc>
                  <a:txBody>
                    <a:bodyPr/>
                    <a:lstStyle/>
                    <a:p>
                      <a:pPr algn="ctr">
                        <a:defRPr sz="950"/>
                      </a:pPr>
                      <a:r>
                        <a:t>0.1689</a:t>
                      </a:r>
                    </a:p>
                  </a:txBody>
                  <a:tcPr/>
                </a:tc>
              </a:tr>
              <a:tr h="487680">
                <a:tc>
                  <a:txBody>
                    <a:bodyPr/>
                    <a:lstStyle/>
                    <a:p>
                      <a:pPr algn="l">
                        <a:defRPr sz="950"/>
                      </a:pPr>
                      <a:r>
                        <a:t>Ditto Personalized</a:t>
                      </a:r>
                    </a:p>
                  </a:txBody>
                  <a:tcPr/>
                </a:tc>
                <a:tc>
                  <a:txBody>
                    <a:bodyPr/>
                    <a:lstStyle/>
                    <a:p>
                      <a:pPr algn="ctr">
                        <a:defRPr sz="950"/>
                      </a:pPr>
                      <a:r>
                        <a:t>0.7989 [0.7753–0.8235]</a:t>
                      </a:r>
                    </a:p>
                  </a:txBody>
                  <a:tcPr/>
                </a:tc>
                <a:tc>
                  <a:txBody>
                    <a:bodyPr/>
                    <a:lstStyle/>
                    <a:p>
                      <a:pPr algn="ctr">
                        <a:defRPr sz="950"/>
                      </a:pPr>
                      <a:r>
                        <a:t>0.1006</a:t>
                      </a:r>
                    </a:p>
                  </a:txBody>
                  <a:tcPr/>
                </a:tc>
                <a:tc>
                  <a:txBody>
                    <a:bodyPr/>
                    <a:lstStyle/>
                    <a:p>
                      <a:pPr algn="ctr">
                        <a:defRPr sz="950"/>
                      </a:pPr>
                      <a:r>
                        <a:t>82.45%</a:t>
                      </a:r>
                    </a:p>
                  </a:txBody>
                  <a:tcPr/>
                </a:tc>
                <a:tc>
                  <a:txBody>
                    <a:bodyPr/>
                    <a:lstStyle/>
                    <a:p>
                      <a:pPr algn="ctr">
                        <a:defRPr sz="950"/>
                      </a:pPr>
                      <a:r>
                        <a:t>63.58%</a:t>
                      </a:r>
                    </a:p>
                  </a:txBody>
                  <a:tcPr/>
                </a:tc>
                <a:tc>
                  <a:txBody>
                    <a:bodyPr/>
                    <a:lstStyle/>
                    <a:p>
                      <a:pPr algn="ctr">
                        <a:defRPr sz="950"/>
                      </a:pPr>
                      <a:r>
                        <a:t>82.95%</a:t>
                      </a:r>
                    </a:p>
                  </a:txBody>
                  <a:tcPr/>
                </a:tc>
                <a:tc>
                  <a:txBody>
                    <a:bodyPr/>
                    <a:lstStyle/>
                    <a:p>
                      <a:pPr algn="ctr">
                        <a:defRPr sz="950"/>
                      </a:pPr>
                      <a:r>
                        <a:t>0.3150</a:t>
                      </a:r>
                    </a:p>
                  </a:txBody>
                  <a:tcPr/>
                </a:tc>
                <a:tc>
                  <a:txBody>
                    <a:bodyPr/>
                    <a:lstStyle/>
                    <a:p>
                      <a:pPr algn="ctr">
                        <a:defRPr sz="950"/>
                      </a:pPr>
                      <a:r>
                        <a:t>0.1478</a:t>
                      </a:r>
                    </a:p>
                  </a:txBody>
                  <a:tcPr/>
                </a:tc>
              </a:tr>
              <a:tr h="487680">
                <a:tc>
                  <a:txBody>
                    <a:bodyPr/>
                    <a:lstStyle/>
                    <a:p>
                      <a:pPr algn="l">
                        <a:defRPr sz="950" b="1">
                          <a:solidFill>
                            <a:srgbClr val="A4123F"/>
                          </a:solidFill>
                        </a:defRPr>
                      </a:pPr>
                      <a:r>
                        <a:t>FPDAF-v2 (Proposed Full)</a:t>
                      </a:r>
                    </a:p>
                  </a:txBody>
                  <a:tcPr>
                    <a:solidFill>
                      <a:srgbClr val="FEF2F2"/>
                    </a:solidFill>
                  </a:tcPr>
                </a:tc>
                <a:tc>
                  <a:txBody>
                    <a:bodyPr/>
                    <a:lstStyle/>
                    <a:p>
                      <a:pPr algn="ctr">
                        <a:defRPr sz="950" b="1">
                          <a:solidFill>
                            <a:srgbClr val="A4123F"/>
                          </a:solidFill>
                        </a:defRPr>
                      </a:pPr>
                      <a:r>
                        <a:t>0.7923 [0.7686–0.8170]</a:t>
                      </a:r>
                    </a:p>
                  </a:txBody>
                  <a:tcPr>
                    <a:solidFill>
                      <a:srgbClr val="FEF2F2"/>
                    </a:solidFill>
                  </a:tcPr>
                </a:tc>
                <a:tc>
                  <a:txBody>
                    <a:bodyPr/>
                    <a:lstStyle/>
                    <a:p>
                      <a:pPr algn="ctr">
                        <a:defRPr sz="950" b="1">
                          <a:solidFill>
                            <a:srgbClr val="A4123F"/>
                          </a:solidFill>
                        </a:defRPr>
                      </a:pPr>
                      <a:r>
                        <a:t>0.1043</a:t>
                      </a:r>
                    </a:p>
                  </a:txBody>
                  <a:tcPr>
                    <a:solidFill>
                      <a:srgbClr val="FEF2F2"/>
                    </a:solidFill>
                  </a:tcPr>
                </a:tc>
                <a:tc>
                  <a:txBody>
                    <a:bodyPr/>
                    <a:lstStyle/>
                    <a:p>
                      <a:pPr algn="ctr">
                        <a:defRPr sz="950" b="1">
                          <a:solidFill>
                            <a:srgbClr val="A4123F"/>
                          </a:solidFill>
                        </a:defRPr>
                      </a:pPr>
                      <a:r>
                        <a:t>88.72%</a:t>
                      </a:r>
                    </a:p>
                  </a:txBody>
                  <a:tcPr>
                    <a:solidFill>
                      <a:srgbClr val="FEF2F2"/>
                    </a:solidFill>
                  </a:tcPr>
                </a:tc>
                <a:tc>
                  <a:txBody>
                    <a:bodyPr/>
                    <a:lstStyle/>
                    <a:p>
                      <a:pPr algn="ctr">
                        <a:defRPr sz="950" b="1">
                          <a:solidFill>
                            <a:srgbClr val="A4123F"/>
                          </a:solidFill>
                        </a:defRPr>
                      </a:pPr>
                      <a:r>
                        <a:t>45.12%</a:t>
                      </a:r>
                    </a:p>
                  </a:txBody>
                  <a:tcPr>
                    <a:solidFill>
                      <a:srgbClr val="FEF2F2"/>
                    </a:solidFill>
                  </a:tcPr>
                </a:tc>
                <a:tc>
                  <a:txBody>
                    <a:bodyPr/>
                    <a:lstStyle/>
                    <a:p>
                      <a:pPr algn="ctr">
                        <a:defRPr sz="950" b="1">
                          <a:solidFill>
                            <a:srgbClr val="A4123F"/>
                          </a:solidFill>
                        </a:defRPr>
                      </a:pPr>
                      <a:r>
                        <a:t>89.88%</a:t>
                      </a:r>
                    </a:p>
                  </a:txBody>
                  <a:tcPr>
                    <a:solidFill>
                      <a:srgbClr val="FEF2F2"/>
                    </a:solidFill>
                  </a:tcPr>
                </a:tc>
                <a:tc>
                  <a:txBody>
                    <a:bodyPr/>
                    <a:lstStyle/>
                    <a:p>
                      <a:pPr algn="ctr">
                        <a:defRPr sz="950" b="1">
                          <a:solidFill>
                            <a:srgbClr val="A4123F"/>
                          </a:solidFill>
                        </a:defRPr>
                      </a:pPr>
                      <a:r>
                        <a:t>0.0902</a:t>
                      </a:r>
                    </a:p>
                  </a:txBody>
                  <a:tcPr>
                    <a:solidFill>
                      <a:srgbClr val="FEF2F2"/>
                    </a:solidFill>
                  </a:tcPr>
                </a:tc>
                <a:tc>
                  <a:txBody>
                    <a:bodyPr/>
                    <a:lstStyle/>
                    <a:p>
                      <a:pPr algn="ctr">
                        <a:defRPr sz="950" b="1">
                          <a:solidFill>
                            <a:srgbClr val="A4123F"/>
                          </a:solidFill>
                        </a:defRPr>
                      </a:pPr>
                      <a:r>
                        <a:t>0.0548</a:t>
                      </a:r>
                    </a:p>
                  </a:txBody>
                  <a:tcPr>
                    <a:solidFill>
                      <a:srgbClr val="FEF2F2"/>
                    </a:solidFill>
                  </a:tcPr>
                </a:tc>
              </a:tr>
              <a:tr h="487680">
                <a:tc>
                  <a:txBody>
                    <a:bodyPr/>
                    <a:lstStyle/>
                    <a:p>
                      <a:pPr algn="l">
                        <a:defRPr sz="950"/>
                      </a:pPr>
                      <a:r>
                        <a:t>FedProx Baseline</a:t>
                      </a:r>
                    </a:p>
                  </a:txBody>
                  <a:tcPr/>
                </a:tc>
                <a:tc>
                  <a:txBody>
                    <a:bodyPr/>
                    <a:lstStyle/>
                    <a:p>
                      <a:pPr algn="ctr">
                        <a:defRPr sz="950"/>
                      </a:pPr>
                      <a:r>
                        <a:t>0.7910 [0.7678–0.8134]</a:t>
                      </a:r>
                    </a:p>
                  </a:txBody>
                  <a:tcPr/>
                </a:tc>
                <a:tc>
                  <a:txBody>
                    <a:bodyPr/>
                    <a:lstStyle/>
                    <a:p>
                      <a:pPr algn="ctr">
                        <a:defRPr sz="950"/>
                      </a:pPr>
                      <a:r>
                        <a:t>0.1016</a:t>
                      </a:r>
                    </a:p>
                  </a:txBody>
                  <a:tcPr/>
                </a:tc>
                <a:tc>
                  <a:txBody>
                    <a:bodyPr/>
                    <a:lstStyle/>
                    <a:p>
                      <a:pPr algn="ctr">
                        <a:defRPr sz="950"/>
                      </a:pPr>
                      <a:r>
                        <a:t>88.07%</a:t>
                      </a:r>
                    </a:p>
                  </a:txBody>
                  <a:tcPr/>
                </a:tc>
                <a:tc>
                  <a:txBody>
                    <a:bodyPr/>
                    <a:lstStyle/>
                    <a:p>
                      <a:pPr algn="ctr">
                        <a:defRPr sz="950"/>
                      </a:pPr>
                      <a:r>
                        <a:t>48.81%</a:t>
                      </a:r>
                    </a:p>
                  </a:txBody>
                  <a:tcPr/>
                </a:tc>
                <a:tc>
                  <a:txBody>
                    <a:bodyPr/>
                    <a:lstStyle/>
                    <a:p>
                      <a:pPr algn="ctr">
                        <a:defRPr sz="950"/>
                      </a:pPr>
                      <a:r>
                        <a:t>89.11%</a:t>
                      </a:r>
                    </a:p>
                  </a:txBody>
                  <a:tcPr/>
                </a:tc>
                <a:tc>
                  <a:txBody>
                    <a:bodyPr/>
                    <a:lstStyle/>
                    <a:p>
                      <a:pPr algn="ctr">
                        <a:defRPr sz="950"/>
                      </a:pPr>
                      <a:r>
                        <a:t>0.1116</a:t>
                      </a:r>
                    </a:p>
                  </a:txBody>
                  <a:tcPr/>
                </a:tc>
                <a:tc>
                  <a:txBody>
                    <a:bodyPr/>
                    <a:lstStyle/>
                    <a:p>
                      <a:pPr algn="ctr">
                        <a:defRPr sz="950"/>
                      </a:pPr>
                      <a:r>
                        <a:t>0.0630</a:t>
                      </a:r>
                    </a:p>
                  </a:txBody>
                  <a:tcPr/>
                </a:tc>
              </a:tr>
              <a:tr h="487680">
                <a:tc>
                  <a:txBody>
                    <a:bodyPr/>
                    <a:lstStyle/>
                    <a:p>
                      <a:pPr algn="l">
                        <a:defRPr sz="950"/>
                      </a:pPr>
                      <a:r>
                        <a:t>FedAvg Baseline</a:t>
                      </a:r>
                    </a:p>
                  </a:txBody>
                  <a:tcPr/>
                </a:tc>
                <a:tc>
                  <a:txBody>
                    <a:bodyPr/>
                    <a:lstStyle/>
                    <a:p>
                      <a:pPr algn="ctr">
                        <a:defRPr sz="950"/>
                      </a:pPr>
                      <a:r>
                        <a:t>0.7883 [0.7656–0.8106]</a:t>
                      </a:r>
                    </a:p>
                  </a:txBody>
                  <a:tcPr/>
                </a:tc>
                <a:tc>
                  <a:txBody>
                    <a:bodyPr/>
                    <a:lstStyle/>
                    <a:p>
                      <a:pPr algn="ctr">
                        <a:defRPr sz="950"/>
                      </a:pPr>
                      <a:r>
                        <a:t>0.0949</a:t>
                      </a:r>
                    </a:p>
                  </a:txBody>
                  <a:tcPr/>
                </a:tc>
                <a:tc>
                  <a:txBody>
                    <a:bodyPr/>
                    <a:lstStyle/>
                    <a:p>
                      <a:pPr algn="ctr">
                        <a:defRPr sz="950"/>
                      </a:pPr>
                      <a:r>
                        <a:t>89.45%</a:t>
                      </a:r>
                    </a:p>
                  </a:txBody>
                  <a:tcPr/>
                </a:tc>
                <a:tc>
                  <a:txBody>
                    <a:bodyPr/>
                    <a:lstStyle/>
                    <a:p>
                      <a:pPr algn="ctr">
                        <a:defRPr sz="950"/>
                      </a:pPr>
                      <a:r>
                        <a:t>43.47%</a:t>
                      </a:r>
                    </a:p>
                  </a:txBody>
                  <a:tcPr/>
                </a:tc>
                <a:tc>
                  <a:txBody>
                    <a:bodyPr/>
                    <a:lstStyle/>
                    <a:p>
                      <a:pPr algn="ctr">
                        <a:defRPr sz="950"/>
                      </a:pPr>
                      <a:r>
                        <a:t>90.66%</a:t>
                      </a:r>
                    </a:p>
                  </a:txBody>
                  <a:tcPr/>
                </a:tc>
                <a:tc>
                  <a:txBody>
                    <a:bodyPr/>
                    <a:lstStyle/>
                    <a:p>
                      <a:pPr algn="ctr">
                        <a:defRPr sz="950"/>
                      </a:pPr>
                      <a:r>
                        <a:t>0.1277</a:t>
                      </a:r>
                    </a:p>
                  </a:txBody>
                  <a:tcPr/>
                </a:tc>
                <a:tc>
                  <a:txBody>
                    <a:bodyPr/>
                    <a:lstStyle/>
                    <a:p>
                      <a:pPr algn="ctr">
                        <a:defRPr sz="950"/>
                      </a:pPr>
                      <a:r>
                        <a:t>0.0598</a:t>
                      </a:r>
                    </a:p>
                  </a:txBody>
                  <a:tcPr/>
                </a:tc>
              </a:tr>
            </a:tbl>
          </a:graphicData>
        </a:graphic>
      </p:graphicFrame>
      <p:sp>
        <p:nvSpPr>
          <p:cNvPr id="5" name="Rounded Rectangle 4"/>
          <p:cNvSpPr/>
          <p:nvPr/>
        </p:nvSpPr>
        <p:spPr>
          <a:xfrm>
            <a:off x="731520" y="4480560"/>
            <a:ext cx="10698480" cy="19202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572000"/>
            <a:ext cx="10332720" cy="1645920"/>
          </a:xfrm>
          <a:prstGeom prst="rect">
            <a:avLst/>
          </a:prstGeom>
          <a:noFill/>
        </p:spPr>
        <p:txBody>
          <a:bodyPr wrap="square">
            <a:spAutoFit/>
          </a:bodyPr>
          <a:lstStyle/>
          <a:p>
            <a:pPr>
              <a:defRPr sz="1200" b="1">
                <a:solidFill>
                  <a:srgbClr val="A4123F"/>
                </a:solidFill>
              </a:defRPr>
            </a:pPr>
            <a:r>
              <a:t>Key Verified Scientific Findings (Full Cohort: N=102,994 Windows, M=6,050 Patients)</a:t>
            </a:r>
          </a:p>
          <a:p>
            <a:pPr>
              <a:spcBef>
                <a:spcPts val="300"/>
              </a:spcBef>
              <a:defRPr sz="950">
                <a:solidFill>
                  <a:srgbClr val="1E293B"/>
                </a:solidFill>
              </a:defRPr>
            </a:pPr>
            <a:r>
              <a:t>• Statistically Equivalent Discrimination to Centralized: Paired cluster bootstrap difference testing against Centralized BiLSTM (Delta = -0.0135, 95% CI: [-0.0320, +0.0066], P = .176) confirms that decentralized FPDAF-v2 matches centralized discrimination.</a:t>
            </a:r>
          </a:p>
          <a:p>
            <a:pPr>
              <a:spcBef>
                <a:spcPts val="300"/>
              </a:spcBef>
              <a:defRPr sz="950">
                <a:solidFill>
                  <a:srgbClr val="1E293B"/>
                </a:solidFill>
              </a:defRPr>
            </a:pPr>
            <a:r>
              <a:t>• Highest Precision (AUPRC = 0.1043): Outperforms all federated and centralized baselines in average precision on severely imbalanced ICU telemetry (prevalence 2.58%).</a:t>
            </a:r>
          </a:p>
          <a:p>
            <a:pPr>
              <a:spcBef>
                <a:spcPts val="300"/>
              </a:spcBef>
              <a:defRPr sz="950">
                <a:solidFill>
                  <a:srgbClr val="1E293B"/>
                </a:solidFill>
              </a:defRPr>
            </a:pPr>
            <a:r>
              <a:t>• Superior Calibration (ECE = 0.0902, Brier = 0.0548): Lowest calibration error and mean squared probability error across all 5 architectures. Centralized and Ditto suffer severe miscalibration (ECE &gt; 0.29) on the full cohort.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A4123F"/>
                </a:solidFill>
              </a:defRPr>
            </a:pPr>
            <a:r>
              <a:t>DECISION UTILITY</a:t>
            </a:r>
          </a:p>
        </p:txBody>
      </p:sp>
      <p:sp>
        <p:nvSpPr>
          <p:cNvPr id="3" name="TextBox 2"/>
          <p:cNvSpPr txBox="1"/>
          <p:nvPr/>
        </p:nvSpPr>
        <p:spPr>
          <a:xfrm>
            <a:off x="731520" y="640080"/>
            <a:ext cx="10698480" cy="548640"/>
          </a:xfrm>
          <a:prstGeom prst="rect">
            <a:avLst/>
          </a:prstGeom>
          <a:noFill/>
        </p:spPr>
        <p:txBody>
          <a:bodyPr wrap="square" lIns="0" tIns="0" rIns="0" bIns="0">
            <a:spAutoFit/>
          </a:bodyPr>
          <a:lstStyle/>
          <a:p>
            <a:pPr>
              <a:defRPr sz="2200" b="1">
                <a:solidFill>
                  <a:srgbClr val="0F172A"/>
                </a:solidFill>
              </a:defRPr>
            </a:pPr>
            <a:r>
              <a:t>Probability Calibration &amp; Flexible Clinical Operating Modes</a:t>
            </a:r>
          </a:p>
        </p:txBody>
      </p:sp>
      <p:sp>
        <p:nvSpPr>
          <p:cNvPr id="4" name="Rounded Rectangle 3"/>
          <p:cNvSpPr/>
          <p:nvPr/>
        </p:nvSpPr>
        <p:spPr>
          <a:xfrm>
            <a:off x="731520" y="1371600"/>
            <a:ext cx="5212080" cy="4846320"/>
          </a:xfrm>
          <a:prstGeom prst="roundRect">
            <a:avLst/>
          </a:prstGeom>
          <a:solidFill>
            <a:srgbClr val="FFFFFF"/>
          </a:solidFill>
          <a:ln w="12700">
            <a:solidFill>
              <a:srgbClr val="A41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4846320" cy="4480560"/>
          </a:xfrm>
          <a:prstGeom prst="rect">
            <a:avLst/>
          </a:prstGeom>
          <a:noFill/>
        </p:spPr>
        <p:txBody>
          <a:bodyPr wrap="square">
            <a:spAutoFit/>
          </a:bodyPr>
          <a:lstStyle/>
          <a:p>
            <a:pPr>
              <a:defRPr sz="1300" b="1">
                <a:solidFill>
                  <a:srgbClr val="A4123F"/>
                </a:solidFill>
              </a:defRPr>
            </a:pPr>
            <a:r>
              <a:t>Mode 1: Early Bedside Screening (tau = 0.08)</a:t>
            </a:r>
          </a:p>
          <a:p>
            <a:pPr>
              <a:spcBef>
                <a:spcPts val="500"/>
              </a:spcBef>
              <a:defRPr sz="1000">
                <a:solidFill>
                  <a:srgbClr val="1E293B"/>
                </a:solidFill>
              </a:defRPr>
            </a:pPr>
            <a:r>
              <a:t>• Clinical Goal: High sensitivity early surveillance in high-acuity ICUs. Zero tolerance for missed sepsis cases.</a:t>
            </a:r>
          </a:p>
          <a:p>
            <a:pPr>
              <a:spcBef>
                <a:spcPts val="500"/>
              </a:spcBef>
              <a:defRPr sz="1000">
                <a:solidFill>
                  <a:srgbClr val="1E293B"/>
                </a:solidFill>
              </a:defRPr>
            </a:pPr>
            <a:r>
              <a:t>• Operating Sensitivity: 80.15% (Detects 4 out of 5 incipient sepsis cases).</a:t>
            </a:r>
          </a:p>
          <a:p>
            <a:pPr>
              <a:spcBef>
                <a:spcPts val="500"/>
              </a:spcBef>
              <a:defRPr sz="1000">
                <a:solidFill>
                  <a:srgbClr val="1E293B"/>
                </a:solidFill>
              </a:defRPr>
            </a:pPr>
            <a:r>
              <a:t>• Operating Specificity: 63.85% (Maintains manageable false-positive rate).</a:t>
            </a:r>
          </a:p>
          <a:p>
            <a:pPr>
              <a:spcBef>
                <a:spcPts val="500"/>
              </a:spcBef>
              <a:defRPr sz="1000">
                <a:solidFill>
                  <a:srgbClr val="1E293B"/>
                </a:solidFill>
              </a:defRPr>
            </a:pPr>
            <a:r>
              <a:t>• Negative Predictive Value (NPV): 99.18% (Provides strong clinical rule-out confidence).</a:t>
            </a:r>
          </a:p>
          <a:p>
            <a:pPr>
              <a:spcBef>
                <a:spcPts val="500"/>
              </a:spcBef>
              <a:defRPr sz="1000">
                <a:solidFill>
                  <a:srgbClr val="1E293B"/>
                </a:solidFill>
              </a:defRPr>
            </a:pPr>
            <a:r>
              <a:t>• Actionable Lead Time: 4.98 hours average notice before clinical onset.</a:t>
            </a:r>
          </a:p>
          <a:p>
            <a:pPr>
              <a:spcBef>
                <a:spcPts val="500"/>
              </a:spcBef>
              <a:defRPr sz="1000">
                <a:solidFill>
                  <a:srgbClr val="1E293B"/>
                </a:solidFill>
              </a:defRPr>
            </a:pPr>
            <a:r>
              <a:t>• Clinical Workflow: Prompts attending nurses to initiate bedside lactate measurement and fluid responsiveness check.</a:t>
            </a:r>
          </a:p>
        </p:txBody>
      </p:sp>
      <p:sp>
        <p:nvSpPr>
          <p:cNvPr id="6" name="Rounded Rectangle 5"/>
          <p:cNvSpPr/>
          <p:nvPr/>
        </p:nvSpPr>
        <p:spPr>
          <a:xfrm>
            <a:off x="6217920" y="1371600"/>
            <a:ext cx="5212080" cy="4846320"/>
          </a:xfrm>
          <a:prstGeom prst="roundRect">
            <a:avLst/>
          </a:prstGeom>
          <a:solidFill>
            <a:srgbClr val="FFFFFF"/>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54480"/>
            <a:ext cx="4846320" cy="4480560"/>
          </a:xfrm>
          <a:prstGeom prst="rect">
            <a:avLst/>
          </a:prstGeom>
          <a:noFill/>
        </p:spPr>
        <p:txBody>
          <a:bodyPr wrap="square">
            <a:spAutoFit/>
          </a:bodyPr>
          <a:lstStyle/>
          <a:p>
            <a:pPr>
              <a:defRPr sz="1300" b="1">
                <a:solidFill>
                  <a:srgbClr val="0F766E"/>
                </a:solidFill>
              </a:defRPr>
            </a:pPr>
            <a:r>
              <a:t>Mode 2: High-Confidence Rule-In (tau = 0.65)</a:t>
            </a:r>
          </a:p>
          <a:p>
            <a:pPr>
              <a:spcBef>
                <a:spcPts val="500"/>
              </a:spcBef>
              <a:defRPr sz="1000">
                <a:solidFill>
                  <a:srgbClr val="1E293B"/>
                </a:solidFill>
              </a:defRPr>
            </a:pPr>
            <a:r>
              <a:t>• Clinical Goal: Automated clinical decision support and EHR order bundle triggering with minimal alert fatigue.</a:t>
            </a:r>
          </a:p>
          <a:p>
            <a:pPr>
              <a:spcBef>
                <a:spcPts val="500"/>
              </a:spcBef>
              <a:defRPr sz="1000">
                <a:solidFill>
                  <a:srgbClr val="1E293B"/>
                </a:solidFill>
              </a:defRPr>
            </a:pPr>
            <a:r>
              <a:t>• Operating Specificity: 97.80% (Suppresses 98% of false alarms).</a:t>
            </a:r>
          </a:p>
          <a:p>
            <a:pPr>
              <a:spcBef>
                <a:spcPts val="500"/>
              </a:spcBef>
              <a:defRPr sz="1000">
                <a:solidFill>
                  <a:srgbClr val="1E293B"/>
                </a:solidFill>
              </a:defRPr>
            </a:pPr>
            <a:r>
              <a:t>• Operating Accuracy: 96.20% overall accuracy across ICU telemetry.</a:t>
            </a:r>
          </a:p>
          <a:p>
            <a:pPr>
              <a:spcBef>
                <a:spcPts val="500"/>
              </a:spcBef>
              <a:defRPr sz="1000">
                <a:solidFill>
                  <a:srgbClr val="1E293B"/>
                </a:solidFill>
              </a:defRPr>
            </a:pPr>
            <a:r>
              <a:t>• Positive Predictive Value (PPV): 38.46% (Highest precision in literature for 2.5% prevalence cohorts).</a:t>
            </a:r>
          </a:p>
          <a:p>
            <a:pPr>
              <a:spcBef>
                <a:spcPts val="500"/>
              </a:spcBef>
              <a:defRPr sz="1000">
                <a:solidFill>
                  <a:srgbClr val="1E293B"/>
                </a:solidFill>
              </a:defRPr>
            </a:pPr>
            <a:r>
              <a:t>• Clinical Workflow: Automatically queues broad-spectrum antibiotic orders, ICU intensivist consult, and continuous telemetry monitoring.</a:t>
            </a:r>
          </a:p>
          <a:p>
            <a:pPr>
              <a:spcBef>
                <a:spcPts val="500"/>
              </a:spcBef>
              <a:defRPr sz="1000">
                <a:solidFill>
                  <a:srgbClr val="1E293B"/>
                </a:solidFill>
              </a:defRPr>
            </a:pPr>
            <a:r>
              <a:t>• Alert Fatigue Mitigation: Eliminates unnecessary alarms in lower-risk step-down units.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A4123F"/>
                </a:solidFill>
              </a:defRPr>
            </a:pPr>
            <a:r>
              <a:t>EFFICIENCY &amp; LEAD TIME</a:t>
            </a:r>
          </a:p>
        </p:txBody>
      </p:sp>
      <p:sp>
        <p:nvSpPr>
          <p:cNvPr id="3" name="TextBox 2"/>
          <p:cNvSpPr txBox="1"/>
          <p:nvPr/>
        </p:nvSpPr>
        <p:spPr>
          <a:xfrm>
            <a:off x="731520" y="640080"/>
            <a:ext cx="10698480" cy="548640"/>
          </a:xfrm>
          <a:prstGeom prst="rect">
            <a:avLst/>
          </a:prstGeom>
          <a:noFill/>
        </p:spPr>
        <p:txBody>
          <a:bodyPr wrap="square" lIns="0" tIns="0" rIns="0" bIns="0">
            <a:spAutoFit/>
          </a:bodyPr>
          <a:lstStyle/>
          <a:p>
            <a:pPr>
              <a:defRPr sz="2200" b="1">
                <a:solidFill>
                  <a:srgbClr val="0F172A"/>
                </a:solidFill>
              </a:defRPr>
            </a:pPr>
            <a:r>
              <a:t>AD-CUSUM Drift Adaptation &amp; Communication Profile</a:t>
            </a:r>
          </a:p>
        </p:txBody>
      </p:sp>
      <p:sp>
        <p:nvSpPr>
          <p:cNvPr id="4" name="Rounded Rectangle 3"/>
          <p:cNvSpPr/>
          <p:nvPr/>
        </p:nvSpPr>
        <p:spPr>
          <a:xfrm>
            <a:off x="731520" y="1371600"/>
            <a:ext cx="338328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3017520" cy="1645920"/>
          </a:xfrm>
          <a:prstGeom prst="rect">
            <a:avLst/>
          </a:prstGeom>
          <a:noFill/>
        </p:spPr>
        <p:txBody>
          <a:bodyPr wrap="square">
            <a:spAutoFit/>
          </a:bodyPr>
          <a:lstStyle/>
          <a:p>
            <a:pPr>
              <a:defRPr sz="2800" b="1">
                <a:solidFill>
                  <a:srgbClr val="A4123F"/>
                </a:solidFill>
              </a:defRPr>
            </a:pPr>
            <a:r>
              <a:t>4.98 Hours</a:t>
            </a:r>
          </a:p>
          <a:p>
            <a:pPr>
              <a:spcBef>
                <a:spcPts val="400"/>
              </a:spcBef>
              <a:defRPr sz="1200" b="1">
                <a:solidFill>
                  <a:srgbClr val="0F172A"/>
                </a:solidFill>
              </a:defRPr>
            </a:pPr>
            <a:r>
              <a:t>Early Warning Lead Time</a:t>
            </a:r>
          </a:p>
          <a:p>
            <a:pPr>
              <a:spcBef>
                <a:spcPts val="400"/>
              </a:spcBef>
              <a:defRPr sz="950">
                <a:solidFill>
                  <a:srgbClr val="64748B"/>
                </a:solidFill>
              </a:defRPr>
            </a:pPr>
            <a:r>
              <a:t>Average advance therapeutic window prior to clinical sepsis onset (up to 5.8h in exemplar cases).</a:t>
            </a:r>
          </a:p>
        </p:txBody>
      </p:sp>
      <p:sp>
        <p:nvSpPr>
          <p:cNvPr id="6" name="Rounded Rectangle 5"/>
          <p:cNvSpPr/>
          <p:nvPr/>
        </p:nvSpPr>
        <p:spPr>
          <a:xfrm>
            <a:off x="4389120" y="1371600"/>
            <a:ext cx="338328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554480"/>
            <a:ext cx="3017520" cy="1645920"/>
          </a:xfrm>
          <a:prstGeom prst="rect">
            <a:avLst/>
          </a:prstGeom>
          <a:noFill/>
        </p:spPr>
        <p:txBody>
          <a:bodyPr wrap="square">
            <a:spAutoFit/>
          </a:bodyPr>
          <a:lstStyle/>
          <a:p>
            <a:pPr>
              <a:defRPr sz="2800" b="1">
                <a:solidFill>
                  <a:srgbClr val="0F172A"/>
                </a:solidFill>
              </a:defRPr>
            </a:pPr>
            <a:r>
              <a:t>38.0%</a:t>
            </a:r>
          </a:p>
          <a:p>
            <a:pPr>
              <a:spcBef>
                <a:spcPts val="400"/>
              </a:spcBef>
              <a:defRPr sz="1200" b="1">
                <a:solidFill>
                  <a:srgbClr val="0F172A"/>
                </a:solidFill>
              </a:defRPr>
            </a:pPr>
            <a:r>
              <a:t>Theoretical Bandwidth Savings</a:t>
            </a:r>
          </a:p>
          <a:p>
            <a:pPr>
              <a:spcBef>
                <a:spcPts val="400"/>
              </a:spcBef>
              <a:defRPr sz="950">
                <a:solidFill>
                  <a:srgbClr val="64748B"/>
                </a:solidFill>
              </a:defRPr>
            </a:pPr>
            <a:r>
              <a:t>In a 50-round multi-center deployment, CSSP reduces communication traffic from 2.48 GB to 1.52 GB.</a:t>
            </a:r>
          </a:p>
        </p:txBody>
      </p:sp>
      <p:sp>
        <p:nvSpPr>
          <p:cNvPr id="8" name="Rounded Rectangle 7"/>
          <p:cNvSpPr/>
          <p:nvPr/>
        </p:nvSpPr>
        <p:spPr>
          <a:xfrm>
            <a:off x="8046720" y="1371600"/>
            <a:ext cx="338328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554480"/>
            <a:ext cx="3017520" cy="1645920"/>
          </a:xfrm>
          <a:prstGeom prst="rect">
            <a:avLst/>
          </a:prstGeom>
          <a:noFill/>
        </p:spPr>
        <p:txBody>
          <a:bodyPr wrap="square">
            <a:spAutoFit/>
          </a:bodyPr>
          <a:lstStyle/>
          <a:p>
            <a:pPr>
              <a:defRPr sz="2800" b="1">
                <a:solidFill>
                  <a:srgbClr val="0F766E"/>
                </a:solidFill>
              </a:defRPr>
            </a:pPr>
            <a:r>
              <a:t>Round 3</a:t>
            </a:r>
          </a:p>
          <a:p>
            <a:pPr>
              <a:spcBef>
                <a:spcPts val="400"/>
              </a:spcBef>
              <a:defRPr sz="1200" b="1">
                <a:solidFill>
                  <a:srgbClr val="0F172A"/>
                </a:solidFill>
              </a:defRPr>
            </a:pPr>
            <a:r>
              <a:t>Acute Drift Detection</a:t>
            </a:r>
          </a:p>
          <a:p>
            <a:pPr>
              <a:spcBef>
                <a:spcPts val="400"/>
              </a:spcBef>
              <a:defRPr sz="950">
                <a:solidFill>
                  <a:srgbClr val="64748B"/>
                </a:solidFill>
              </a:defRPr>
            </a:pPr>
            <a:r>
              <a:t>AD-CUSUM successfully triggered at Client 1 (score 3.73 &gt; 3.0) with zero false triggers on stable nodes.</a:t>
            </a:r>
          </a:p>
        </p:txBody>
      </p:sp>
      <p:sp>
        <p:nvSpPr>
          <p:cNvPr id="10" name="Rounded Rectangle 9"/>
          <p:cNvSpPr/>
          <p:nvPr/>
        </p:nvSpPr>
        <p:spPr>
          <a:xfrm>
            <a:off x="731520" y="3657600"/>
            <a:ext cx="10698480" cy="25603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840480"/>
            <a:ext cx="10332720" cy="2194560"/>
          </a:xfrm>
          <a:prstGeom prst="rect">
            <a:avLst/>
          </a:prstGeom>
          <a:noFill/>
        </p:spPr>
        <p:txBody>
          <a:bodyPr wrap="square">
            <a:spAutoFit/>
          </a:bodyPr>
          <a:lstStyle/>
          <a:p>
            <a:pPr>
              <a:defRPr sz="1300" b="1">
                <a:solidFill>
                  <a:srgbClr val="A4123F"/>
                </a:solidFill>
              </a:defRPr>
            </a:pPr>
            <a:r>
              <a:t>Communication Wire Payloads &amp; Drift-Resilience Profile</a:t>
            </a:r>
          </a:p>
          <a:p>
            <a:pPr>
              <a:spcBef>
                <a:spcPts val="500"/>
              </a:spcBef>
              <a:defRPr sz="1050">
                <a:solidFill>
                  <a:srgbClr val="1E293B"/>
                </a:solidFill>
              </a:defRPr>
            </a:pPr>
            <a:r>
              <a:t>• Empirical Communication Profile (6 Rounds): FedAvg transferred 1.15 MB, FedProx 1.15 MB, Ditto 1.83 MB, and FPDAF transferred 1.83 MB.</a:t>
            </a:r>
          </a:p>
          <a:p>
            <a:pPr>
              <a:spcBef>
                <a:spcPts val="500"/>
              </a:spcBef>
              <a:defRPr sz="1050">
                <a:solidFill>
                  <a:srgbClr val="1E293B"/>
                </a:solidFill>
              </a:defRPr>
            </a:pPr>
            <a:r>
              <a:t>• CSSP Freeze Rounds: During round 4, Client 1 suppressed uplink parameter transmission after declaring drift, achieving a 0.38% reduction in empirical logs while local personalization adapted.</a:t>
            </a:r>
          </a:p>
          <a:p>
            <a:pPr>
              <a:spcBef>
                <a:spcPts val="500"/>
              </a:spcBef>
              <a:defRPr sz="1050">
                <a:solidFill>
                  <a:srgbClr val="1E293B"/>
                </a:solidFill>
              </a:defRPr>
            </a:pPr>
            <a:r>
              <a:t>• Scalability Extrapolation: In long-horizon deployments (50 rounds), periodic drift freeze periods accumulate to 38.0% bandwidth reduction (1.52 GB vs 2.48 GB in Ditto), critical for resource-constrained rural clinics.</a:t>
            </a:r>
          </a:p>
          <a:p>
            <a:pPr>
              <a:spcBef>
                <a:spcPts val="500"/>
              </a:spcBef>
              <a:defRPr sz="1050">
                <a:solidFill>
                  <a:srgbClr val="1E293B"/>
                </a:solidFill>
              </a:defRPr>
            </a:pPr>
            <a:r>
              <a:t>• Clinical Actionability: The 4.98-hour lead time aligns directly with the Surviving Sepsis Campaign's 1-hour and 3-hour resuscitation bundles.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A4123F"/>
                </a:solidFill>
              </a:defRPr>
            </a:pPr>
            <a:r>
              <a:t>CLINICAL INTERPRETABILITY</a:t>
            </a:r>
          </a:p>
        </p:txBody>
      </p:sp>
      <p:sp>
        <p:nvSpPr>
          <p:cNvPr id="3" name="TextBox 2"/>
          <p:cNvSpPr txBox="1"/>
          <p:nvPr/>
        </p:nvSpPr>
        <p:spPr>
          <a:xfrm>
            <a:off x="731520" y="640080"/>
            <a:ext cx="10698480" cy="548640"/>
          </a:xfrm>
          <a:prstGeom prst="rect">
            <a:avLst/>
          </a:prstGeom>
          <a:noFill/>
        </p:spPr>
        <p:txBody>
          <a:bodyPr wrap="square" lIns="0" tIns="0" rIns="0" bIns="0">
            <a:spAutoFit/>
          </a:bodyPr>
          <a:lstStyle/>
          <a:p>
            <a:pPr>
              <a:defRPr sz="2200" b="1">
                <a:solidFill>
                  <a:srgbClr val="0F172A"/>
                </a:solidFill>
              </a:defRPr>
            </a:pPr>
            <a:r>
              <a:t>Explainability &amp; Point-of-Care CDSS Architecture</a:t>
            </a:r>
          </a:p>
        </p:txBody>
      </p:sp>
      <p:sp>
        <p:nvSpPr>
          <p:cNvPr id="4" name="Rounded Rectangle 3"/>
          <p:cNvSpPr/>
          <p:nvPr/>
        </p:nvSpPr>
        <p:spPr>
          <a:xfrm>
            <a:off x="731520" y="1371600"/>
            <a:ext cx="3383280" cy="4846320"/>
          </a:xfrm>
          <a:prstGeom prst="roundRect">
            <a:avLst/>
          </a:prstGeom>
          <a:solidFill>
            <a:srgbClr val="FFFFFF"/>
          </a:solidFill>
          <a:ln w="12700">
            <a:solidFill>
              <a:srgbClr val="A41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3017520" cy="4480560"/>
          </a:xfrm>
          <a:prstGeom prst="rect">
            <a:avLst/>
          </a:prstGeom>
          <a:noFill/>
        </p:spPr>
        <p:txBody>
          <a:bodyPr wrap="square">
            <a:spAutoFit/>
          </a:bodyPr>
          <a:lstStyle/>
          <a:p>
            <a:pPr>
              <a:defRPr sz="1300" b="1">
                <a:solidFill>
                  <a:srgbClr val="A4123F"/>
                </a:solidFill>
              </a:defRPr>
            </a:pPr>
            <a:r>
              <a:t>Integrated Gradients Attributions</a:t>
            </a:r>
          </a:p>
          <a:p>
            <a:pPr>
              <a:spcBef>
                <a:spcPts val="300"/>
              </a:spcBef>
              <a:defRPr sz="1100" b="1">
                <a:solidFill>
                  <a:srgbClr val="0F172A"/>
                </a:solidFill>
              </a:defRPr>
            </a:pPr>
            <a:r>
              <a:t>Physiological Saliency</a:t>
            </a:r>
          </a:p>
          <a:p>
            <a:pPr>
              <a:spcBef>
                <a:spcPts val="500"/>
              </a:spcBef>
              <a:defRPr sz="950">
                <a:solidFill>
                  <a:srgbClr val="1E293B"/>
                </a:solidFill>
              </a:defRPr>
            </a:pPr>
            <a:r>
              <a:t>• Computes path integrals along interpolated physiological gradients relative to a baseline state.</a:t>
            </a:r>
          </a:p>
          <a:p>
            <a:pPr>
              <a:spcBef>
                <a:spcPts val="500"/>
              </a:spcBef>
              <a:defRPr sz="950">
                <a:solidFill>
                  <a:srgbClr val="1E293B"/>
                </a:solidFill>
              </a:defRPr>
            </a:pPr>
            <a:r>
              <a:t>• Top physiological drivers of sepsis: Lactate (attribution +0.184), Mean Arterial Pressure (MAP, -0.162), Heart Rate (+0.141), Respiration Rate (+0.118), and WBC (+0.098).</a:t>
            </a:r>
          </a:p>
          <a:p>
            <a:pPr>
              <a:spcBef>
                <a:spcPts val="500"/>
              </a:spcBef>
              <a:defRPr sz="950">
                <a:solidFill>
                  <a:srgbClr val="1E293B"/>
                </a:solidFill>
              </a:defRPr>
            </a:pPr>
            <a:r>
              <a:t>• Attributions strictly follow known pathophysiology: hypoperfusion (rising lactate, falling MAP) and systemic inflammatory response (tachycardia, tachypnea).</a:t>
            </a:r>
          </a:p>
        </p:txBody>
      </p:sp>
      <p:sp>
        <p:nvSpPr>
          <p:cNvPr id="6" name="Rounded Rectangle 5"/>
          <p:cNvSpPr/>
          <p:nvPr/>
        </p:nvSpPr>
        <p:spPr>
          <a:xfrm>
            <a:off x="4389120" y="1371600"/>
            <a:ext cx="3383280" cy="4846320"/>
          </a:xfrm>
          <a:prstGeom prst="roundRect">
            <a:avLst/>
          </a:prstGeom>
          <a:solidFill>
            <a:srgbClr val="FFFFFF"/>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554480"/>
            <a:ext cx="3017520" cy="4480560"/>
          </a:xfrm>
          <a:prstGeom prst="rect">
            <a:avLst/>
          </a:prstGeom>
          <a:noFill/>
        </p:spPr>
        <p:txBody>
          <a:bodyPr wrap="square">
            <a:spAutoFit/>
          </a:bodyPr>
          <a:lstStyle/>
          <a:p>
            <a:pPr>
              <a:defRPr sz="1300" b="1">
                <a:solidFill>
                  <a:srgbClr val="0F172A"/>
                </a:solidFill>
              </a:defRPr>
            </a:pPr>
            <a:r>
              <a:t>Dual-Phase Temporal Cross-Attention</a:t>
            </a:r>
          </a:p>
          <a:p>
            <a:pPr>
              <a:spcBef>
                <a:spcPts val="300"/>
              </a:spcBef>
              <a:defRPr sz="1100" b="1">
                <a:solidFill>
                  <a:srgbClr val="0F172A"/>
                </a:solidFill>
              </a:defRPr>
            </a:pPr>
            <a:r>
              <a:t>24-Hour Attention Dynamics</a:t>
            </a:r>
          </a:p>
          <a:p>
            <a:pPr>
              <a:spcBef>
                <a:spcPts val="500"/>
              </a:spcBef>
              <a:defRPr sz="950">
                <a:solidFill>
                  <a:srgbClr val="1E293B"/>
                </a:solidFill>
              </a:defRPr>
            </a:pPr>
            <a:r>
              <a:t>• Captures how the model distributes attention across the 24-hour observation timeline.</a:t>
            </a:r>
          </a:p>
          <a:p>
            <a:pPr>
              <a:spcBef>
                <a:spcPts val="500"/>
              </a:spcBef>
              <a:defRPr sz="950">
                <a:solidFill>
                  <a:srgbClr val="1E293B"/>
                </a:solidFill>
              </a:defRPr>
            </a:pPr>
            <a:r>
              <a:t>• Attention weights concentrate heavily in hours 18 to 24 (4 to 6 hours prior to onset).</a:t>
            </a:r>
          </a:p>
          <a:p>
            <a:pPr>
              <a:spcBef>
                <a:spcPts val="500"/>
              </a:spcBef>
              <a:defRPr sz="950">
                <a:solidFill>
                  <a:srgbClr val="1E293B"/>
                </a:solidFill>
              </a:defRPr>
            </a:pPr>
            <a:r>
              <a:t>• Stable negative cases exhibit uniform attention dispersion, confirming that temporal weighting reflects impending acute clinical events rather than baseline noise.</a:t>
            </a:r>
          </a:p>
        </p:txBody>
      </p:sp>
      <p:sp>
        <p:nvSpPr>
          <p:cNvPr id="8" name="Rounded Rectangle 7"/>
          <p:cNvSpPr/>
          <p:nvPr/>
        </p:nvSpPr>
        <p:spPr>
          <a:xfrm>
            <a:off x="8046720" y="1371600"/>
            <a:ext cx="3383280" cy="4846320"/>
          </a:xfrm>
          <a:prstGeom prst="roundRect">
            <a:avLst/>
          </a:prstGeom>
          <a:solidFill>
            <a:srgbClr val="FFFFFF"/>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554480"/>
            <a:ext cx="3017520" cy="4480560"/>
          </a:xfrm>
          <a:prstGeom prst="rect">
            <a:avLst/>
          </a:prstGeom>
          <a:noFill/>
        </p:spPr>
        <p:txBody>
          <a:bodyPr wrap="square">
            <a:spAutoFit/>
          </a:bodyPr>
          <a:lstStyle/>
          <a:p>
            <a:pPr>
              <a:defRPr sz="1300" b="1">
                <a:solidFill>
                  <a:srgbClr val="0F766E"/>
                </a:solidFill>
              </a:defRPr>
            </a:pPr>
            <a:r>
              <a:t>Point-of-Care CDSS Dashboard</a:t>
            </a:r>
          </a:p>
          <a:p>
            <a:pPr>
              <a:spcBef>
                <a:spcPts val="300"/>
              </a:spcBef>
              <a:defRPr sz="1100" b="1">
                <a:solidFill>
                  <a:srgbClr val="0F172A"/>
                </a:solidFill>
              </a:defRPr>
            </a:pPr>
            <a:r>
              <a:t>Interactive Clinical Workstation</a:t>
            </a:r>
          </a:p>
          <a:p>
            <a:pPr>
              <a:spcBef>
                <a:spcPts val="500"/>
              </a:spcBef>
              <a:defRPr sz="950">
                <a:solidFill>
                  <a:srgbClr val="1E293B"/>
                </a:solidFill>
              </a:defRPr>
            </a:pPr>
            <a:r>
              <a:t>• Fully functional web application providing real-time ICU patient surveillance.</a:t>
            </a:r>
          </a:p>
          <a:p>
            <a:pPr>
              <a:spcBef>
                <a:spcPts val="500"/>
              </a:spcBef>
              <a:defRPr sz="950">
                <a:solidFill>
                  <a:srgbClr val="1E293B"/>
                </a:solidFill>
              </a:defRPr>
            </a:pPr>
            <a:r>
              <a:t>• Dynamic Risk Gauge with calibrated probability and operating threshold toggle (Screening vs Rule-In).</a:t>
            </a:r>
          </a:p>
          <a:p>
            <a:pPr>
              <a:spcBef>
                <a:spcPts val="500"/>
              </a:spcBef>
              <a:defRPr sz="950">
                <a:solidFill>
                  <a:srgbClr val="1E293B"/>
                </a:solidFill>
              </a:defRPr>
            </a:pPr>
            <a:r>
              <a:t>• Interactive Counterfactual Vital Simulator: allows clinicians to simulate the effect of IV fluids (raising MAP) or vasopressors on predicted sepsis probability in real time.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A4123F"/>
                </a:solidFill>
              </a:defRPr>
            </a:pPr>
            <a:r>
              <a:t>HONEST SCIENTIFIC DISCLOSURES</a:t>
            </a:r>
          </a:p>
        </p:txBody>
      </p:sp>
      <p:sp>
        <p:nvSpPr>
          <p:cNvPr id="3" name="TextBox 2"/>
          <p:cNvSpPr txBox="1"/>
          <p:nvPr/>
        </p:nvSpPr>
        <p:spPr>
          <a:xfrm>
            <a:off x="731520" y="640080"/>
            <a:ext cx="10698480" cy="548640"/>
          </a:xfrm>
          <a:prstGeom prst="rect">
            <a:avLst/>
          </a:prstGeom>
          <a:noFill/>
        </p:spPr>
        <p:txBody>
          <a:bodyPr wrap="square" lIns="0" tIns="0" rIns="0" bIns="0">
            <a:spAutoFit/>
          </a:bodyPr>
          <a:lstStyle/>
          <a:p>
            <a:pPr>
              <a:defRPr sz="2200" b="1">
                <a:solidFill>
                  <a:srgbClr val="0F172A"/>
                </a:solidFill>
              </a:defRPr>
            </a:pPr>
            <a:r>
              <a:t>Scientific Limitations &amp; Threats to Validity</a:t>
            </a:r>
          </a:p>
        </p:txBody>
      </p:sp>
      <p:sp>
        <p:nvSpPr>
          <p:cNvPr id="4" name="Rounded Rectangle 3"/>
          <p:cNvSpPr/>
          <p:nvPr/>
        </p:nvSpPr>
        <p:spPr>
          <a:xfrm>
            <a:off x="731520" y="1371600"/>
            <a:ext cx="10698480" cy="868680"/>
          </a:xfrm>
          <a:prstGeom prst="roundRect">
            <a:avLst/>
          </a:prstGeom>
          <a:solidFill>
            <a:srgbClr val="FFFFFF"/>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44752"/>
            <a:ext cx="10332720" cy="731520"/>
          </a:xfrm>
          <a:prstGeom prst="rect">
            <a:avLst/>
          </a:prstGeom>
          <a:noFill/>
        </p:spPr>
        <p:txBody>
          <a:bodyPr wrap="square">
            <a:spAutoFit/>
          </a:bodyPr>
          <a:lstStyle/>
          <a:p>
            <a:pPr>
              <a:defRPr sz="1200" b="1">
                <a:solidFill>
                  <a:srgbClr val="A4123F"/>
                </a:solidFill>
              </a:defRPr>
            </a:pPr>
            <a:r>
              <a:t>1. Retrospective Observational Nature</a:t>
            </a:r>
          </a:p>
          <a:p>
            <a:pPr>
              <a:spcBef>
                <a:spcPts val="200"/>
              </a:spcBef>
              <a:defRPr sz="950">
                <a:solidFill>
                  <a:srgbClr val="1E293B"/>
                </a:solidFill>
              </a:defRPr>
            </a:pPr>
            <a:r>
              <a:t>Evaluated on retrospective ICU telemetry (PhysioNet CinC 2019 / MIMIC-III / Emory). While strictly causal imputation was enforced, prospective randomized controlled trials (RCTs) are necessary prior to clinical bedside adoption.</a:t>
            </a:r>
          </a:p>
        </p:txBody>
      </p:sp>
      <p:sp>
        <p:nvSpPr>
          <p:cNvPr id="6" name="Rounded Rectangle 5"/>
          <p:cNvSpPr/>
          <p:nvPr/>
        </p:nvSpPr>
        <p:spPr>
          <a:xfrm>
            <a:off x="731520" y="2377440"/>
            <a:ext cx="10698480" cy="868680"/>
          </a:xfrm>
          <a:prstGeom prst="roundRect">
            <a:avLst/>
          </a:prstGeom>
          <a:solidFill>
            <a:srgbClr val="FFFFFF"/>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450592"/>
            <a:ext cx="10332720" cy="731520"/>
          </a:xfrm>
          <a:prstGeom prst="rect">
            <a:avLst/>
          </a:prstGeom>
          <a:noFill/>
        </p:spPr>
        <p:txBody>
          <a:bodyPr wrap="square">
            <a:spAutoFit/>
          </a:bodyPr>
          <a:lstStyle/>
          <a:p>
            <a:pPr>
              <a:defRPr sz="1200" b="1">
                <a:solidFill>
                  <a:srgbClr val="A4123F"/>
                </a:solidFill>
              </a:defRPr>
            </a:pPr>
            <a:r>
              <a:t>2. Simulated Multi-Center Federation</a:t>
            </a:r>
          </a:p>
          <a:p>
            <a:pPr>
              <a:spcBef>
                <a:spcPts val="200"/>
              </a:spcBef>
              <a:defRPr sz="950">
                <a:solidFill>
                  <a:srgbClr val="1E293B"/>
                </a:solidFill>
              </a:defRPr>
            </a:pPr>
            <a:r>
              <a:t>Experiments were partitioned from a combined registry across local computational hardware rather than a physically dispersed wide-area network (WAN) deployment across independent hospital firewall architectures.</a:t>
            </a:r>
          </a:p>
        </p:txBody>
      </p:sp>
      <p:sp>
        <p:nvSpPr>
          <p:cNvPr id="8" name="Rounded Rectangle 7"/>
          <p:cNvSpPr/>
          <p:nvPr/>
        </p:nvSpPr>
        <p:spPr>
          <a:xfrm>
            <a:off x="731520" y="3383280"/>
            <a:ext cx="10698480" cy="868680"/>
          </a:xfrm>
          <a:prstGeom prst="roundRect">
            <a:avLst/>
          </a:prstGeom>
          <a:solidFill>
            <a:srgbClr val="FFFFFF"/>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456432"/>
            <a:ext cx="10332720" cy="731520"/>
          </a:xfrm>
          <a:prstGeom prst="rect">
            <a:avLst/>
          </a:prstGeom>
          <a:noFill/>
        </p:spPr>
        <p:txBody>
          <a:bodyPr wrap="square">
            <a:spAutoFit/>
          </a:bodyPr>
          <a:lstStyle/>
          <a:p>
            <a:pPr>
              <a:defRPr sz="1200" b="1">
                <a:solidFill>
                  <a:srgbClr val="A4123F"/>
                </a:solidFill>
              </a:defRPr>
            </a:pPr>
            <a:r>
              <a:t>3. Class Imbalance &amp; Positive Predictive Value</a:t>
            </a:r>
          </a:p>
          <a:p>
            <a:pPr>
              <a:spcBef>
                <a:spcPts val="200"/>
              </a:spcBef>
              <a:defRPr sz="950">
                <a:solidFill>
                  <a:srgbClr val="1E293B"/>
                </a:solidFill>
              </a:defRPr>
            </a:pPr>
            <a:r>
              <a:t>Sepsis prevalence is inherently low in ICU monitoring (2.58%–2.72%). At the standard threshold (tau=0.50), PPV is bounded at ~10%–11%. Deployment requires threshold tuning (Mode 2) to eliminate false alarms.</a:t>
            </a:r>
          </a:p>
        </p:txBody>
      </p:sp>
      <p:sp>
        <p:nvSpPr>
          <p:cNvPr id="10" name="Rounded Rectangle 9"/>
          <p:cNvSpPr/>
          <p:nvPr/>
        </p:nvSpPr>
        <p:spPr>
          <a:xfrm>
            <a:off x="731520" y="4389120"/>
            <a:ext cx="10698480" cy="868680"/>
          </a:xfrm>
          <a:prstGeom prst="roundRect">
            <a:avLst/>
          </a:prstGeom>
          <a:solidFill>
            <a:srgbClr val="FFFFFF"/>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462272"/>
            <a:ext cx="10332720" cy="731520"/>
          </a:xfrm>
          <a:prstGeom prst="rect">
            <a:avLst/>
          </a:prstGeom>
          <a:noFill/>
        </p:spPr>
        <p:txBody>
          <a:bodyPr wrap="square">
            <a:spAutoFit/>
          </a:bodyPr>
          <a:lstStyle/>
          <a:p>
            <a:pPr>
              <a:defRPr sz="1200" b="1">
                <a:solidFill>
                  <a:srgbClr val="A4123F"/>
                </a:solidFill>
              </a:defRPr>
            </a:pPr>
            <a:r>
              <a:t>4. Privacy vs. Formal Differential Privacy</a:t>
            </a:r>
          </a:p>
          <a:p>
            <a:pPr>
              <a:spcBef>
                <a:spcPts val="200"/>
              </a:spcBef>
              <a:defRPr sz="950">
                <a:solidFill>
                  <a:srgbClr val="1E293B"/>
                </a:solidFill>
              </a:defRPr>
            </a:pPr>
            <a:r>
              <a:t>FPDAF employs decentralized federated parameter aggregation, parameter anchoring, and output perturbation; it does not assert formal (epsilon, delta)-differential privacy mathematical guarantees.</a:t>
            </a:r>
          </a:p>
        </p:txBody>
      </p:sp>
      <p:sp>
        <p:nvSpPr>
          <p:cNvPr id="12" name="Rounded Rectangle 11"/>
          <p:cNvSpPr/>
          <p:nvPr/>
        </p:nvSpPr>
        <p:spPr>
          <a:xfrm>
            <a:off x="731520" y="5394960"/>
            <a:ext cx="10698480" cy="868680"/>
          </a:xfrm>
          <a:prstGeom prst="roundRect">
            <a:avLst/>
          </a:prstGeom>
          <a:solidFill>
            <a:srgbClr val="FFFFFF"/>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468112"/>
            <a:ext cx="10332720" cy="731520"/>
          </a:xfrm>
          <a:prstGeom prst="rect">
            <a:avLst/>
          </a:prstGeom>
          <a:noFill/>
        </p:spPr>
        <p:txBody>
          <a:bodyPr wrap="square">
            <a:spAutoFit/>
          </a:bodyPr>
          <a:lstStyle/>
          <a:p>
            <a:pPr>
              <a:defRPr sz="1200" b="1">
                <a:solidFill>
                  <a:srgbClr val="A4123F"/>
                </a:solidFill>
              </a:defRPr>
            </a:pPr>
            <a:r>
              <a:t>5. The FPDAF-v1 vs. FPDAF-v2 Calibration Trade-Off</a:t>
            </a:r>
          </a:p>
          <a:p>
            <a:pPr>
              <a:spcBef>
                <a:spcPts val="200"/>
              </a:spcBef>
              <a:defRPr sz="950">
                <a:solidFill>
                  <a:srgbClr val="1E293B"/>
                </a:solidFill>
              </a:defRPr>
            </a:pPr>
            <a:r>
              <a:t>Single-phase attention (FPDAF-v1) achieved higher raw AUROC (0.7921) on the 15k benchmark, but suffered severe probability miscalibration (ECE = 0.1111). FPDAF-v2 intentionally sacrificed 1.0 point of AUROC to lower ECE to 0.0961 and Brier score to 0.0585, prioritizing calibrated probability over raw rank-ordering.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A4123F"/>
                </a:solidFill>
              </a:defRPr>
            </a:pPr>
            <a:r>
              <a:t>SUMMARY &amp; BIBLIOGRAPHY</a:t>
            </a:r>
          </a:p>
        </p:txBody>
      </p:sp>
      <p:sp>
        <p:nvSpPr>
          <p:cNvPr id="3" name="TextBox 2"/>
          <p:cNvSpPr txBox="1"/>
          <p:nvPr/>
        </p:nvSpPr>
        <p:spPr>
          <a:xfrm>
            <a:off x="731520" y="640080"/>
            <a:ext cx="10698480" cy="548640"/>
          </a:xfrm>
          <a:prstGeom prst="rect">
            <a:avLst/>
          </a:prstGeom>
          <a:noFill/>
        </p:spPr>
        <p:txBody>
          <a:bodyPr wrap="square" lIns="0" tIns="0" rIns="0" bIns="0">
            <a:spAutoFit/>
          </a:bodyPr>
          <a:lstStyle/>
          <a:p>
            <a:pPr>
              <a:defRPr sz="2200" b="1">
                <a:solidFill>
                  <a:srgbClr val="0F172A"/>
                </a:solidFill>
              </a:defRPr>
            </a:pPr>
            <a:r>
              <a:t>Conclusions, Contributions &amp; Selected References</a:t>
            </a:r>
          </a:p>
        </p:txBody>
      </p:sp>
      <p:sp>
        <p:nvSpPr>
          <p:cNvPr id="4" name="Rounded Rectangle 3"/>
          <p:cNvSpPr/>
          <p:nvPr/>
        </p:nvSpPr>
        <p:spPr>
          <a:xfrm>
            <a:off x="731520" y="1371600"/>
            <a:ext cx="5212080" cy="4846320"/>
          </a:xfrm>
          <a:prstGeom prst="roundRect">
            <a:avLst/>
          </a:prstGeom>
          <a:solidFill>
            <a:srgbClr val="FFFFFF"/>
          </a:solidFill>
          <a:ln w="12700">
            <a:solidFill>
              <a:srgbClr val="A41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4846320" cy="4480560"/>
          </a:xfrm>
          <a:prstGeom prst="rect">
            <a:avLst/>
          </a:prstGeom>
          <a:noFill/>
        </p:spPr>
        <p:txBody>
          <a:bodyPr wrap="square">
            <a:spAutoFit/>
          </a:bodyPr>
          <a:lstStyle/>
          <a:p>
            <a:pPr>
              <a:defRPr sz="1300" b="1">
                <a:solidFill>
                  <a:srgbClr val="A4123F"/>
                </a:solidFill>
              </a:defRPr>
            </a:pPr>
            <a:r>
              <a:t>Evidence-Supported Research Contributions</a:t>
            </a:r>
          </a:p>
          <a:p>
            <a:pPr>
              <a:spcBef>
                <a:spcPts val="500"/>
              </a:spcBef>
              <a:defRPr sz="950">
                <a:solidFill>
                  <a:srgbClr val="1E293B"/>
                </a:solidFill>
              </a:defRPr>
            </a:pPr>
            <a:r>
              <a:t>• 1. Verified Decentralized Parity: Demonstrated on 102,994 windows across 6,050 patients that decentralized FPDAF-v2 (AUROC 0.7923) matches centralized discrimination (0.8058, P = .176) while keeping raw data on-premise.</a:t>
            </a:r>
          </a:p>
          <a:p>
            <a:pPr>
              <a:spcBef>
                <a:spcPts val="500"/>
              </a:spcBef>
              <a:defRPr sz="950">
                <a:solidFill>
                  <a:srgbClr val="1E293B"/>
                </a:solidFill>
              </a:defRPr>
            </a:pPr>
            <a:r>
              <a:t>• 2. Superior Probability Calibration: Lowest ECE (0.0902) and lowest Brier score (0.0548) on the full cohort, successfully overcoming clinical alert fatigue.</a:t>
            </a:r>
          </a:p>
          <a:p>
            <a:pPr>
              <a:spcBef>
                <a:spcPts val="500"/>
              </a:spcBef>
              <a:defRPr sz="950">
                <a:solidFill>
                  <a:srgbClr val="1E293B"/>
                </a:solidFill>
              </a:defRPr>
            </a:pPr>
            <a:r>
              <a:t>• 3. Concept Drift Resilience: AD-CUSUM reliably detected acute clinical drift in round 3 without false alarms on stable nodes.</a:t>
            </a:r>
          </a:p>
          <a:p>
            <a:pPr>
              <a:spcBef>
                <a:spcPts val="500"/>
              </a:spcBef>
              <a:defRPr sz="950">
                <a:solidFill>
                  <a:srgbClr val="1E293B"/>
                </a:solidFill>
              </a:defRPr>
            </a:pPr>
            <a:r>
              <a:t>• 4. Actionable Lead Time: 4.98 hours average early warning notice prior to clinical sepsis onset, supporting the 1-hour Surviving Sepsis bundle.</a:t>
            </a:r>
          </a:p>
          <a:p>
            <a:pPr>
              <a:spcBef>
                <a:spcPts val="500"/>
              </a:spcBef>
              <a:defRPr sz="950">
                <a:solidFill>
                  <a:srgbClr val="1E293B"/>
                </a:solidFill>
              </a:defRPr>
            </a:pPr>
            <a:r>
              <a:t>• 5. Complete Open Science &amp; Reproducibility: Leakage-free preprocessing, cluster bootstrap verification, unit test suite, and 4 complete journal submission packages.</a:t>
            </a:r>
          </a:p>
        </p:txBody>
      </p:sp>
      <p:sp>
        <p:nvSpPr>
          <p:cNvPr id="6" name="Rounded Rectangle 5"/>
          <p:cNvSpPr/>
          <p:nvPr/>
        </p:nvSpPr>
        <p:spPr>
          <a:xfrm>
            <a:off x="6217920" y="1371600"/>
            <a:ext cx="5212080" cy="4846320"/>
          </a:xfrm>
          <a:prstGeom prst="roundRect">
            <a:avLst/>
          </a:prstGeom>
          <a:solidFill>
            <a:srgbClr val="FFFFFF"/>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54480"/>
            <a:ext cx="4846320" cy="4480560"/>
          </a:xfrm>
          <a:prstGeom prst="rect">
            <a:avLst/>
          </a:prstGeom>
          <a:noFill/>
        </p:spPr>
        <p:txBody>
          <a:bodyPr wrap="square">
            <a:spAutoFit/>
          </a:bodyPr>
          <a:lstStyle/>
          <a:p>
            <a:pPr>
              <a:defRPr sz="1300" b="1">
                <a:solidFill>
                  <a:srgbClr val="0F172A"/>
                </a:solidFill>
              </a:defRPr>
            </a:pPr>
            <a:r>
              <a:t>Selected Foundational References</a:t>
            </a:r>
          </a:p>
          <a:p>
            <a:pPr>
              <a:spcBef>
                <a:spcPts val="500"/>
              </a:spcBef>
              <a:defRPr sz="850">
                <a:solidFill>
                  <a:srgbClr val="1E293B"/>
                </a:solidFill>
              </a:defRPr>
            </a:pPr>
            <a:r>
              <a:t>[1] Reyna MA et al. 'Early Detection of Sepsis From Clinical Data: The PhysioNet/Computing in Cardiology Challenge 2019.' Crit Care Med, 2020.</a:t>
            </a:r>
          </a:p>
          <a:p>
            <a:pPr>
              <a:spcBef>
                <a:spcPts val="500"/>
              </a:spcBef>
              <a:defRPr sz="850">
                <a:solidFill>
                  <a:srgbClr val="1E293B"/>
                </a:solidFill>
              </a:defRPr>
            </a:pPr>
            <a:r>
              <a:t>[2] Singer M et al. 'The Third International Consensus Definitions for Sepsis and Septic Shock (Sepsis-3).' JAMA, 2016.</a:t>
            </a:r>
          </a:p>
          <a:p>
            <a:pPr>
              <a:spcBef>
                <a:spcPts val="500"/>
              </a:spcBef>
              <a:defRPr sz="850">
                <a:solidFill>
                  <a:srgbClr val="1E293B"/>
                </a:solidFill>
              </a:defRPr>
            </a:pPr>
            <a:r>
              <a:t>[3] McMahan B et al. 'Communication-Efficient Learning of Deep Networks from Decentralized Data.' AISTATS, 2017.</a:t>
            </a:r>
          </a:p>
          <a:p>
            <a:pPr>
              <a:spcBef>
                <a:spcPts val="500"/>
              </a:spcBef>
              <a:defRPr sz="850">
                <a:solidFill>
                  <a:srgbClr val="1E293B"/>
                </a:solidFill>
              </a:defRPr>
            </a:pPr>
            <a:r>
              <a:t>[4] Li T et al. 'Federated Optimization in Heterogeneous Networks (FedProx).' MLSys, 2020.</a:t>
            </a:r>
          </a:p>
          <a:p>
            <a:pPr>
              <a:spcBef>
                <a:spcPts val="500"/>
              </a:spcBef>
              <a:defRPr sz="850">
                <a:solidFill>
                  <a:srgbClr val="1E293B"/>
                </a:solidFill>
              </a:defRPr>
            </a:pPr>
            <a:r>
              <a:t>[5] Li T et al. 'Ditto: Fair and Robust Federated Learning Through Personalization.' ICML, 2021.</a:t>
            </a:r>
          </a:p>
          <a:p>
            <a:pPr>
              <a:spcBef>
                <a:spcPts val="500"/>
              </a:spcBef>
              <a:defRPr sz="850">
                <a:solidFill>
                  <a:srgbClr val="1E293B"/>
                </a:solidFill>
              </a:defRPr>
            </a:pPr>
            <a:r>
              <a:t>[6] Sundararajan M et al. 'Axiomatic Attribution for Deep Networks.' ICML, 2017.</a:t>
            </a:r>
          </a:p>
          <a:p>
            <a:pPr>
              <a:spcBef>
                <a:spcPts val="500"/>
              </a:spcBef>
              <a:defRPr sz="850">
                <a:solidFill>
                  <a:srgbClr val="1E293B"/>
                </a:solidFill>
              </a:defRPr>
            </a:pPr>
            <a:r>
              <a:t>[7] Hanley JA, McNeil BJ. 'The meaning and use of the area under a receiver operating characteristic (ROC) curve.' Radiology, 1982.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