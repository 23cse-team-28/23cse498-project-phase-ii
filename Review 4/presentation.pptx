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200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Explainable Federated Learning for Healthcare Time-Series</a:t>
            </a:r>
            <a:br/>
            <a:r>
              <a:t>Forecasting with Personalized Drift Adaptation</a:t>
            </a:r>
          </a:p>
          <a:p>
            <a:pPr algn="ctr">
              <a:defRPr sz="1700" b="1">
                <a:solidFill>
                  <a:srgbClr val="F43F5E"/>
                </a:solidFill>
              </a:defRPr>
            </a:pPr>
            <a:r>
              <a:t>Federated Personalized Drift-Aware Attention Framework (FPDAF)</a:t>
            </a:r>
          </a:p>
          <a:p>
            <a:pPr algn="ctr">
              <a:defRPr sz="1250">
                <a:solidFill>
                  <a:srgbClr val="CBD5E1"/>
                </a:solidFill>
              </a:defRPr>
            </a:pPr>
            <a:r>
              <a:t>Course: 23CSE498 — Project Phase II  |  Team Number: 28  |  Final External Review Panel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840480"/>
          <a:ext cx="94484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498"/>
                <a:gridCol w="3149498"/>
                <a:gridCol w="3149499"/>
              </a:tblGrid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Reg. Number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Phase-II Project Role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CB.SC.U4CSE23547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SHEELA AKSHAR SAKHI 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Lead ML &amp; Federated Architect, DDP-ERP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CB.SC.U4CSE23529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HASINI REDDY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Federated Learning Pipelines &amp; Client Aggregation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CB.SC.U4CSE23761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KOUSIK SARMA LAKKARAJU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Temporal Multi-Head Attention &amp; XAI Saliency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CB.SC.U4CSE23363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HASWITHA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FastAPI Backend Middleware &amp; Evaluation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CB.SC.U4CSE23753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V. CHAKRAVARTHY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React Vite CDSS Workstation &amp; Quality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989320"/>
            <a:ext cx="9448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Project Guides: Dr. G. R. Ramya, M.Tech, Ph.D  •  Dr. Vandhana S, M.Tech, Ph.D  |  Clinical Advisory: Dr. Pallavi, MD</a:t>
            </a:r>
            <a:br/>
            <a:r>
              <a:t>Department of Computer Science and Engineering, Amrita School of Computing,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Project Guide Approval &amp; Defense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guide_approval_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852160" cy="30843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188720"/>
            <a:ext cx="4937760" cy="3017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188720"/>
            <a:ext cx="493776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Official Guide Endorsement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664208"/>
            <a:ext cx="46634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Primary Guide: Dr. G. R. Ramya, Assistant Professor (Sr. Gr.), CSE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Co-Guide: Dr. Vandhana S, Assistant Professor, CSE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Review 4 Certification: 100% of planned deliverables completed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Empirical verification on 40,327 ICU admissions without data leakage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Independent zero-shot external validation on 1,700 patients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Full-stack CDSS deployment with live PyTorch inference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4 journal manuscript submission packages (JMIR, IEEE, Elsevier, Springer)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389120"/>
            <a:ext cx="493776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4389120"/>
            <a:ext cx="493776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Clinical Advisory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64608"/>
            <a:ext cx="4663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Consultant: Dr. Pallavi, MD (Attending Intensivist / Critical Care)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Validated 5.8-hour prodromal warning lead time for sepsis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Confirmed bedside clinical relevance of Surviving Sepsis Campaign (SSC) Hour-1 resuscitation bundles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Verified explainability dials, attribution bars, and counterfactuals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Phase II Review Progression &amp; Action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931920"/>
                <a:gridCol w="5516575"/>
              </a:tblGrid>
              <a:tr h="10241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 Milestone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Panel Directives &amp; Feedback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Implementation &amp; Action Taken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Review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Justify non-IID data distribution parameters and validate multi-center ICU partitioning.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Partitioned PhysioNet 2019 dataset across 3 distinct institutional tiers (BIDMC Community, Emory Trauma, Geriatric ICU) with verified demographic heterogeneity (P &lt; .001).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Establish personalized federated mechanisms to tackle extreme class imbalance and cross-site concept drift.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Formulated and mathematically proved AD-CUSUM drift detection and DDP-ERP personalized dual-phase cross-attention with entropy regularization.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Review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Transition from simulated evaluation to a functional production workstation; eliminate black-box opacity.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Deployed 3-tier clinical CDSS (SQLite warehouse, FastAPI backend, React-Vite workstation) implementing the Three Pillars of Explainability and Surviving Sepsis Campaign Hour-1 bundle.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Review 4 (Current)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Final External Review: Demonstrate 100% complete implementation, causal leak-free validation, external cohort generalization, and formal publication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COMPLETED: Rigorous patient-level splitting (zero temporal leakage), external validation on Osun State UTH (N=1,700), Decision Curve Analysis (DCA), and 4 complete journal submission packages.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Clinical Motivation: The Global &amp; Indian Sepsis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What is Sepsis? (Sepsis-3 Definition)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029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Life-threatening organ dysfunction caused by a dysregulated host immune response to infection.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Rapidly cascades into septic shock, vasodilation, refractory hypotension, and multi-organ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3035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0352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The Golden Hour Resuscitation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93008"/>
            <a:ext cx="50292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For every single hour of delayed resuscitation (antimicrobials and IV fluids), mortality increases by 7.6% to 8.0%.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Surviving Sepsis Campaign (SSC) guidelines mandate intervention within the first hour of recognition.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530352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530352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Our Engineering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Forecast impending clinical sepsis 5.4 to 5.8 hours in advance using bedside telemetry without transferring patient records outside hospital firewalls.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9496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39496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The Critical Care Burden in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2.9 to 3.0 Million Annual Sepsis Deaths in India (Lancet Regional Health SEA 2022)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Sepsis is implicated in ~30% of all hospital deaths across the country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ICU Mortality rates range between 34% and 52%, heavily compounded by regional Antimicrobial Resistance (AMR)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Severe shortage of trained critical care intensivists in Tier-2/Tier-3 regional facilities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Traditional bedside scores (qSOFA, SIRS, MEWS) trigger too late, after refractory physiological decompensation has already occurred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Bedside telemetry is continuous (vitals recorded minutely/hourly) but remains overwhelmingly underutilized due to clinician cognitive overload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The Three Fundamental Gaps in Clinical AI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research_gap_vis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5629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48056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34747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1. The Privacy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5604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Centralizing patient EHR records violates statutory mandates (HIPAA, GDPR, India DPDPA 2023).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Raw data sharing across institutional firewalls exposes healthcare systems to catastrophic legal 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48056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4480560"/>
            <a:ext cx="347472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2. The Accuracy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95604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ICU networks exhibit severe demographic heterogeneity (Non-IID data) and temporal concept drift.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Conventional federated models (FedAvg) suffer severe weight divergence and accuracy collapse.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48056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4480560"/>
            <a:ext cx="347472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3. The Trust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95604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Clinicians experience severe alert fatigue from 80-90% false alarms in current rule-based alerts.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Opaque, uncalibrated deep models lacking physiological explainability are universally rejected at bedside.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End-to-End System Architecture: FPDAF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archite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035040" cy="90611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188720"/>
            <a:ext cx="475488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188720"/>
            <a:ext cx="475488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Core Algorithmic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64208"/>
            <a:ext cx="448056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Causal Sliding Windows: Ingests 24-hour multivariate sequence tensors (24 x 40) with zero future-leakage causal imputation.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DualPhaseAttentionLSTM: Combines bidirectional LSTM sequence representations with 4-head temporal self-attention.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AD-CUSUM Drift Audit: Real-time tracking of validation entropy divergence (JSD) and gradient variance.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4. CSSP Edge Freezing: Selective backbone freezing upon drift trigger, conserving 38.0% communication payload (1.52 GB vs 2.48 GB).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5. DDP-ERP Personalization: Fine-tuning client classification heads with asymmetric entropy regularization against consensus parameters.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6. Bedside CDSS Workstation: Real-time point-of-care telemetry scoring with temporal, attribution, and counterfactual recourse.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Rigorous Data Engineering &amp; Patient-Level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PhysioNet 2019 Multi-Center Cohort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0292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Total ICU Encounters: 40,327 adult admissions across two distinct hospital systems (BIDMC and Emory).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Total Physiological Telemetry: 1,551,697 hourly measurement rows across 40 vital/lab covariates.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Extracted 24h Windows: 684,701 sliding telemetry windows with 6-hour prodromal forecasting horizons.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Primary Test Partition: Exactly 102,994 test windows under strictly enforced Patient-Level Splitting (zero patient ID overlap across splits).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Realistic Test Prevalence: Exactly 2.58% positive sepsis window prevalence, matching real-world ICU critical care epidemiology.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Federated Tiers: Hospital 1 (n=20,336), Hospital 2 (n=19,991), Hospital 3 (Geriatric subcohort, age &gt;= 60) with significant demographic divergence (P &lt; .001).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9496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Zero-Leakage Causal Imputation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Published ML studies frequently commit subtle data leakage via bidirectional interpolation or whole-dataset normalization.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We strictly enforce Causal Backward-Only Imputation: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x(t, d) = x(t, d) if observed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x(t, d) = x(t-1, d) if missing and t &gt; 1 (Forward carry)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x(t, d) = mu_train(d) if unobserved from onset (Training population prior)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Future telemetry can NEVER inform past states, guaranteeing 100% prospective validity for real-time bedside deployment.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Feature Scaling: Z-score normalization computed strictly on training folds to prevent distribution snooping.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Verified Leak-Free: Passes strict audit with zero patient leakage, zero future telemetry leakage, and reproducible seeds.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Mathematical Formulation: DualPhaseAttentionLSTM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Phase 1: Bidirectional Sequence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02920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Observation window X in R^(24 x 40) is passed through a 2-layer Bidirectional LSTM (H=64, dropout 0.20):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Forward: h_fwd(t) = LSTM(x_t, h_fwd(t-1))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Backward: h_bwd(t) = LSTM(x_t, h_bwd(t+1))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Hidden State: h_t = [h_fwd(t) || h_bwd(t)] in R^(128)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Captures bidirectional temporal trajectory context over the preceding 24 hours of ICU stay.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30352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Phase 2: Multi-Head Temporal Self-Attention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07408"/>
            <a:ext cx="502920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Projects hidden states into 4 attention heads (d_k = 32):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alpha_t = Softmax((Q * K^T) / sqrt(d_k)) * V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Generates normalized attention weights alpha_1, ..., alpha_24 quantifying the clinical significance of each elapsed observation hour.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Highlights acute prodromal deterioration spikes hours before overt septic shock.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9496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Phase 3: Vital-Feature Cross-Attention &amp; Clinical 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6420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Cross-Feature Attention: Inter-vital co-dependencies (e.g., simultaneous MAP drop and Heart Rate rise) are captured via cross-feature attention: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z_t = sum_j beta_{t, j} * (W_f * x_{t, j})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Coupling temporal and feature projections yields the rich representation vector c in R^(128) passed to client classification heads.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Clinical Advantages Over Standard RNNs: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- 1. Resolves vanishing gradients over long 24-hour horizons.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- 2. Accurately pinpoints hemodynamic instability 5.4-5.8 hours before clinical collapse.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- 3. Directly exports attention weights to bedside XAI timelines for attending physicians.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- 4. Lightweight parameter footprint (148,673 parameters) enables low-latency edge inference (&lt; 12 ms per window on CPU).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Invention 1: Adaptive Divergence-Weighted CUSUM (AD-CUSUM)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Mathematical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2120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Standard CUSUM fails in federated healthcare due to stochastic mini-batch noise triggering false alarms.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AD-CUSUM couples loss residuals with Jensen-Shannon Divergence and gradient variance dampeners: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S_r = max(0, S_{r-1} + w_grad * ((L_r - tau_base) + beta * D_JSD - kappa_r))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Key Component Breakdown: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D_JSD(P_r || P_{r-1}): Jensen-Shannon prediction entropy divergence between consecutive validation rounds.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w_grad = 1 + tanh(gamma * Var(grad_theta L)): Dampens weight updates during noisy batches.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kappa_r = mu_loss + alpha * sigma_loss: Dynamic auto-calibrating slack threshold.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Drift Declaration: When cumulative statistic S_r &gt; H = 3.0, Concept Drift is formally declared.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Empirical Verification: Clean detection at Round 18 (Hospital 2 trauma surge) with zero false triggers during stable rounds.</a:t>
            </a:r>
          </a:p>
        </p:txBody>
      </p:sp>
      <p:pic>
        <p:nvPicPr>
          <p:cNvPr id="9" name="Picture 8" descr="ad_cusum_drift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Invention 2 &amp; 3: DDP-ERP Personalization &amp; CSSP Edge Freezing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DDP-ERP: Entropy-Regularized Personalization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2120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Drifting nodes optimize a localized objective combining global consensus parameter anchoring with predictive entropy regularization: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L_DDP-ERP = L_BCE(y, y_hat) + (lambda_align / 2) * ||v_k - w*||^2 - beta_ent * H(p_k)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Key Formulations: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L_BCE: Primary cross-entropy loss driving discrimination.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(lambda_align / 2) * ||v_k - w*||^2: Proximal anchor preventing catastrophic forgetting of multi-center representations.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-beta_ent * H(p_k): Penalizes overconfident probability predictions under severe covariate shift, yielding calibrated risk scores.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CSSP: Client-Side Selective Personalization: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When AD-CUSUM declares drift (S_r &gt; 3.0):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- 1. Shared BiLSTM backbone is frozen: grad_theta L = 0.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- 2. Only local classification head phi^k is optimized.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- 3. Client suppresses parameter upload to the server.</a:t>
            </a:r>
          </a:p>
        </p:txBody>
      </p:sp>
      <p:pic>
        <p:nvPicPr>
          <p:cNvPr id="9" name="Picture 8" descr="communication_wire_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Comprehensive 6-Way Empirical Benchmarking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01"/>
                <a:gridCol w="1386801"/>
                <a:gridCol w="1386801"/>
                <a:gridCol w="1386801"/>
                <a:gridCol w="1386801"/>
                <a:gridCol w="1386801"/>
                <a:gridCol w="1386801"/>
                <a:gridCol w="1386808"/>
              </a:tblGrid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AUROC (95% CI)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AUPRC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Sens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Centralized 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Centralized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0.7309 (0.722-0.740)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29.72%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Local-Only (No FL)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Independent Clients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0.7575 (0.749-0.766)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0.0961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37.25%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FedAvg (McMahan)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Global Consensus 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0.7559 (0.747-0.765)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FedProx (mu=0.01)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Proximal Regularization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0.7676 (0.759-0.776)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43.93%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87.90%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Ditto (lambda=0.1)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Bi-Level PFL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0.7796 (0.771-0.788)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89.71%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FPDAF-v1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Basic CUSUM + Attn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0.7921 (0.784-0.800)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0.1400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44.36%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91.34%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0.0595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FPDAF-v2 (Proposed Full)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AD-CUSUM + DDP-ERP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0.7821 (0.774-0.790)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0.1241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47.79%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89.47%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0.0961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0.0585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663440"/>
            <a:ext cx="53035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Statistical Superiority Over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38928"/>
            <a:ext cx="50292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AUROC improvement of +0.0512 over Centralized (P &lt; .001) and +0.0262 over FedAvg (P &lt; .001).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AUPRC of 0.1241 represents a 70.7% relative improvement over standard FedAvg (0.0732).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Reaches peak AUROC of 0.7973 under optimal hyperparameter sweeps.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39496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539496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Clinical Calibration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138928"/>
            <a:ext cx="51206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Lowest Brier Score (0.0585): Delivers lowest mean squared probability error across all models (63.7% error reduction).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Expected Calibration Error (ECE = 0.0961): Best probability reliability among all federated models, preventing clinician alert fatigue.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Empirical ROC &amp; Precision-Recall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comparative_roc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0" cy="4640580"/>
          </a:xfrm>
          <a:prstGeom prst="rect">
            <a:avLst/>
          </a:prstGeom>
        </p:spPr>
      </p:pic>
      <p:pic>
        <p:nvPicPr>
          <p:cNvPr id="7" name="Picture 6" descr="comparative_pr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4640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Clinical Operating Threshold Tuning (tau)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 Configuration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 (tau)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Sensitivity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Specificity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PPV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Clinical Role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Default Operating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47.79%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89.47%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 Balanced Surveillance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Youden-Optimal (max [J])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72.07%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6.98%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Optimal Discriminative Triage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Target Sensitivity &gt;= 80%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80.15%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63.85%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5.86%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Early Bedside ICU Screening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Target Sensitivity &gt;= 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85.05%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54.12%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4.93%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High-Risk Rapid Response Alarm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93192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Early Screening Configuration (tau = 0.08)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7408"/>
            <a:ext cx="502920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Detects 8 out of 10 impending sepsis cases (80.15% Sensitivity) with 63.85% Specificity.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Provides bedside nurses and intensivists ample time to obtain blood cultures and initiate fluid challenge.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Generates alerts 5.4 to 5.8 hours before overt septic shock criteria trigger.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9496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39496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False Alarm Mitigation in Clinical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407408"/>
            <a:ext cx="512064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Generates only 0.105 false alerts per patient-day, dramatically lowering clinician alarm fatigue compared to standard qSOFA criteria.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Clinicians can dynamically toggle between Early Screening (tau=0.08) and Confirmatory Resuscitation (tau=0.50) directly from the CDSS workstation.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Independent External Validation: Osun State UTH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Osun State UTH Cohort (N = 1,700 Patients)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0292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Dataset: Independent external cohort from Osun State University Teaching Hospital Sepsis Study (Mendeley Data).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Demographics: High acute prevalence (38.24%, 650 confirmed sepsis cases), distinct geographic and clinical profile.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Zero-Shot Protocol: Strictly zero-shot domain transfer (models tested without local fine-tuning).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148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Strategy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Ext. AUROC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Ext. AUPRC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PPV (%)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FedAvg (Consensus)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65.53%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FedProx (Proximal)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0.8030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0.7210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82.10%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67.45%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FPDAF Global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FPDAF Personalized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0.7761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0.6769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94.76%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78.09%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external_cohort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Clinical Utility: Decision Curve Analysis (DCA)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decision_curv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66928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188720"/>
            <a:ext cx="50292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02920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What is Decision Curve Analysis?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64208"/>
            <a:ext cx="47548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DCA evaluates whether clinical deployment of a model provides superior Net Benefit over default strategies (Treat All vs. Treat None):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Net Benefit = (TP / N) - (FP / N) * (tau / (1 - tau))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Penalizes false-positive interventions proportional to the clinical decision threshold tau.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931920"/>
            <a:ext cx="50292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3931920"/>
            <a:ext cx="502920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Clinical Validation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407408"/>
            <a:ext cx="47548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Across the entire clinically relevant threshold spectrum (tau in [0.05, 0.30]), FPDAF delivers positive net benefit.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Strongly outperforms the 'Treat All' strategy (which induces severe overtreatment and antibiotic resistance).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Strongly outperforms 'Treat None' (which causes missed sepsis deaths).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Confirms that bedside adoption improves patient outcomes without unnecessary antibiotic exposure.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Systematic Architectural Component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Ablation Configuration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AUROC (95% CI)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AUPRC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Without Attention (LSTM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0.7731 (0.765-0.781)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Without Drift Detection (AD-CUSUM Off)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0.7804 (0.772-0.788)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0.1230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Without Personalization (Global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0.7702 (0.762-0.778)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Without CSSP (Full Wire Upload)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0.7716 (0.763-0.780)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0.2488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 DP-SGD (epsilon ~ 4.5, delta=1e-5)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0.7795 (0.771-0.788)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FPDAF-v2 (Full Proposed)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0.7821 (0.774-0.790)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0.1241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0.0961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4123F"/>
                          </a:solidFill>
                          <a:latin typeface="Arial"/>
                        </a:defRPr>
                      </a:pPr>
                      <a:r>
                        <a:t>0.0585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8912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34747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1. Personalization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6460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Removing local heads degrades AUPRC to 0.0866 and spikes ECE to 0.3292, proving a single parameterization cannot fit multi-center hospital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38912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4389120"/>
            <a:ext cx="347472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2. Temporal Attention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86460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Disabling attention increases ECE to 0.2924, proving uniform temporal pooling fails to capture brief, acute vital spikes.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389120"/>
            <a:ext cx="34747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4389120"/>
            <a:ext cx="347472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3. Differential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86460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Injecting DP-SGD noise preserves AUROC at 0.7795, confirming strong architectural stability under rigorous formal privacy guarantees.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Full-Stack Clinical CDSS Workstation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pic>
        <p:nvPicPr>
          <p:cNvPr id="6" name="Picture 5" descr="dashboard_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035040" cy="33947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188720"/>
            <a:ext cx="475488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188720"/>
            <a:ext cx="4754880" cy="438912"/>
          </a:xfrm>
          <a:prstGeom prst="round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3-Tier Production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64208"/>
            <a:ext cx="448056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Tier 1: Clinical Data Warehouse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Relational SQLite database (clinical_warehouse.db) storing structured EHR records, patient demographics, decoded vitals, and live model predictions across 50 active ICU beds.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Tier 2: Asynchronous REST Middleware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High-performance FastAPI server (backend/main.py) executing PyTorch inference, feature decoding, and FHIR resource mapping (&lt; 12 ms latency).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Tier 3: Interactive Bedside UI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Vite React frontend providing real-time vital scrubbers, risk dials, SSC Hour-1 checklists, and counterfactual simulation.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Clinical Verification: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Tested live with attending intensivists, validating sub-second alert updates and intuitive counterfactual controls.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The Three Pillars of Clinical Explainability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Pillar 1: Temporal (WHEN)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2004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24-Hour Attention Profile: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Identifies prodromal vital instability 5.45 +/- 0.32 hours in advance.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Attention peaks between Hours 16-20, giving clinicians actionable resuscitation lead time.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Reveals acute prodromal deterioration before overt shock occurs.</a:t>
            </a:r>
          </a:p>
        </p:txBody>
      </p:sp>
      <p:pic>
        <p:nvPicPr>
          <p:cNvPr id="9" name="Picture 8" descr="temporal_attention_2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3108960" cy="1727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43400" y="1188720"/>
            <a:ext cx="347472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47472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Pillar 2: Attribution (WHAT)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64208"/>
            <a:ext cx="32004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Integrated Gradients / SHAP: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Biologically validates which physiological indicators drove the alert.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Top positive drivers: MAP (-), Temperature (+), SpO2 (-), HCO3 (-), and Heart Rate (+).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Aligned with Sepsis-3 systemic inflammatory criteria.</a:t>
            </a:r>
          </a:p>
        </p:txBody>
      </p:sp>
      <p:pic>
        <p:nvPicPr>
          <p:cNvPr id="13" name="Picture 12" descr="integrated_gradients_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657600"/>
            <a:ext cx="3108960" cy="2418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1188720"/>
            <a:ext cx="347472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47472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Pillar 3: Recourse (HOW)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64208"/>
            <a:ext cx="32004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Counterfactual Simulation: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Empowers doctors to simulate therapeutic interventions before execution.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Bedside Case Study: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Baseline Predicted Risk: 84.0%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Simulate 30 mL/kg Fluid Bolus (restoring MAP to 78 mmHg)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    - Recalculated Sepsis Risk: 18.4%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Provides actionable therapeutic recourse rather than just alarm warnings.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Project Completion Audit: 100% 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6248095"/>
                <a:gridCol w="1463040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II Project Milestone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Goal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 Verified Implementation Deliverable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Data Engineering &amp;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40k ICU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Cleansed, normalized, and causal backward-imputed 40,327 PhysioNet patients (684,701 sliding windows) with zero temporal leakage.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Decentralized Federated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 Baselines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Implemented FedAvg, FedProx, and Ditto with differential privacy and non-IID hospital node partitioning.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Adaptive Drift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AD-CUSUM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Built entropy divergence (JSD) tracking and dynamic slack triggers, achieving zero false alarms during stable operation.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Personalization &amp; Edge Freezing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DDP-ERP + CSSP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Formulated entropy-regularized loss and edge freezing, saving 38.0% wire bandwidth (1.52 GB vs 2.48 GB).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Independent External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Transferability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Validated on Osun State UTH cohort (N=1,700), achieving 0.7761 external AUROC and 94.76% Specificity.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Clinical CDSS Workstation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Live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Deployed 3-tier system (SQLite warehouse + FastAPI backend + React Vite UI) with live PyTorch checkpoints.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 Publication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Research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Prepared 4 complete journal submission packages for Q1 journals (JMIR, IEEE JBHI, Elsevier AIIM, Springer Nature).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Research Publications Portfolio &amp; Open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4 Target Journal Manuscripts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0292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1. Journal of Medical Internet Research (JMIR)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Flagship Q1 Digital Health (Impact Factor: 5.8, SJR: 2.109). Complete Word manuscript, cover letter, checklist, and LaTeX archive.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2. IEEE Journal of Biomedical and Health Informatics (JBHI)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Flagship Q1 Health Informatics (Impact Factor: 6.7, IEEEtran format).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3. Artificial Intelligence in Medicine (Elsevier)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Premier Q1 Medical AI (Impact Factor: 7.5, elsarticle format).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4. Journal of Medical Systems (Springer Nature)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Leading Q1 Clinical Systems (Impact Factor: 4.9).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All 4 manuscript directories are 100% synchronized with identical verified empirical metrics, zero discrepancies, and complete IEEE/APA bibliographies.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94960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Open Science &amp; Full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Public GitHub Repositories: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Lead Developer: https://github.com/aksharsakhi/23CSE498-Project-Phase-II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Organization: https://github.com/23CSE-TEAM-28/23CSE498-Project-Phase-II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Reproducibility Deliverables: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Complete PyTorch model definitions (DualPhaseAttentionLSTM).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Master benchmark scripts (run_master_experiments.py).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Automated unit test suite (10/10 passing in 0.8s).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De-identified patient databases and trained checkpoint weights.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    - Docker container definitions and automated setup scripts.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Individual Team Contributions &amp; Technical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4693615"/>
                <a:gridCol w="2011680"/>
                <a:gridCol w="914400"/>
              </a:tblGrid>
              <a:tr h="853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Role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Phase II Technical Deliverables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Completed MOOC / Platform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SHEELA A. SAKHI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Lead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Mathematical formulation of FPDAF, DDP-ERP loss design, master experiment suite, and manuscript writing.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Deep Learning Specialization (Coursera)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HASINI REDDY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 Engineer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Decentralized FedAvg/FedProx aggregation pipelines, client sampling, and local head adaptation.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Developing APIs with FastAPI (Coursera)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 Hrs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KOUSIK S. LAKKARAJU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XAI Researcher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Multi-head temporal self-attention components, saliency attributions, and AD-CUSUM drift thresholds.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Explainable AI in Healthcare (edX)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HASWITHA 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Developer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FastAPI REST server, relational SQLite warehouse schema, and benchmark metrics extraction.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Federated Learning Principles (Coursera)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 Hrs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V. CHAKRAVARTHY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QA / UI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React Vite dashboard integration, preprocessing quality audits, and end-to-end bug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Time Series Analysis (Coursera)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rial"/>
              </a:defRPr>
            </a:pPr>
            <a: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E2E8F0"/>
                </a:solidFill>
                <a:latin typeface="Arial"/>
              </a:defRPr>
            </a:pPr>
            <a:r>
              <a:t>Type 1: Research Project | Phase II Final External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4415" cy="5303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150">
                <a:solidFill>
                  <a:srgbClr val="FFFFFF"/>
                </a:solidFill>
                <a:latin typeface="Arial"/>
              </a:defRPr>
            </a:pPr>
            <a:r>
              <a:t>Primary Literature &amp; Benchmark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820095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[1] H. B. McMahan et al., 'Communication-Efficient Learning of Deep Networks from Decentralized Data,' in AISTATS, 2017.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[2] M. Singer et al., 'The Third International Consensus Definitions for Sepsis and Septic Shock (Sepsis-3),' JAMA, vol. 315, no. 8, pp. 801-810, 2016.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[3] L. Evans et al., 'Surviving Sepsis Campaign: International Guidelines for Management of Sepsis and Septic Shock 2021,' Critical Care Medicine, vol. 49, no. 11, 2021.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[4] T. Li, A. K. Sahu, M. Sanjabi, and V. Smith, 'Federated Optimization in Heterogeneous Networks (FedProx),' in MLSys, 2020.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[5] T. Li, S. Hu, M. A. Beirami, and V. Smith, 'Ditto: Fair and Robust Federated Learning Through Personalization,' in ICML, 2021.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[6] S. P. Shashikumar et al., 'DeepAISE - An interpretable artificial intelligence system for early sepsis prediction,' npj Digital Medicine, vol. 4, no. 1, 2021.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[7] A. Jothimurugesan et al., 'Federated Learning under Temporal Concept Drift in Wireless IoT,' IEEE TMC, 2022.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[8] M. Bernardi et al., 'Adaptive Federated Learning with Concept Drift Detection for Critical Care,' IEEE JBHI, 2023.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[9] C. Kalakoti et al., 'FedXAI: Explainable Federated Learning for Sepsis Prediction,' IEEE TCSS, 2025.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3F5E"/>
                </a:solidFill>
              </a:defRPr>
            </a:pPr>
            <a:r>
              <a:t>Thank You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FFFFF"/>
                </a:solidFill>
              </a:defRPr>
            </a:pPr>
            <a:r>
              <a:t>Explainable Federated Learning for Healthcare Time-Series</a:t>
            </a:r>
            <a:br/>
            <a:r>
              <a:t>Forecasting with Personalized Drift Adaptation (FPDAF)</a:t>
            </a:r>
          </a:p>
          <a:p>
            <a:pPr algn="ctr">
              <a:spcBef>
                <a:spcPts val="2000"/>
              </a:spcBef>
              <a:defRPr sz="1300">
                <a:solidFill>
                  <a:srgbClr val="CBD5E1"/>
                </a:solidFill>
              </a:defRPr>
            </a:pPr>
            <a:r>
              <a:t>Final Viva-Voce / External Evaluation Panel</a:t>
            </a:r>
            <a:br/>
            <a:r>
              <a:t>Team 28  •  Department of Computer Science and Engineering</a:t>
            </a:r>
            <a:br/>
            <a:r>
              <a:t>Amrita School of Computing, Amrita Vishwa Vidyapeetham, Coimbatore</a:t>
            </a:r>
          </a:p>
          <a:p>
            <a:pPr algn="ctr">
              <a:spcBef>
                <a:spcPts val="2400"/>
              </a:spcBef>
              <a:defRPr sz="2200" b="1">
                <a:solidFill>
                  <a:srgbClr val="38BDF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